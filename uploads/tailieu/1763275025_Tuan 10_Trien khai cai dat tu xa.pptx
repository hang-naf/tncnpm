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80" r:id="rId2"/>
    <p:sldId id="281" r:id="rId3"/>
    <p:sldId id="297" r:id="rId4"/>
    <p:sldId id="298" r:id="rId5"/>
    <p:sldId id="299" r:id="rId6"/>
    <p:sldId id="306" r:id="rId7"/>
    <p:sldId id="263" r:id="rId8"/>
    <p:sldId id="272" r:id="rId9"/>
    <p:sldId id="307" r:id="rId10"/>
    <p:sldId id="258" r:id="rId11"/>
    <p:sldId id="265" r:id="rId12"/>
    <p:sldId id="262" r:id="rId13"/>
    <p:sldId id="275" r:id="rId14"/>
    <p:sldId id="301" r:id="rId15"/>
    <p:sldId id="293" r:id="rId16"/>
    <p:sldId id="282" r:id="rId17"/>
    <p:sldId id="308" r:id="rId18"/>
    <p:sldId id="309" r:id="rId19"/>
    <p:sldId id="273" r:id="rId20"/>
    <p:sldId id="304" r:id="rId21"/>
    <p:sldId id="305" r:id="rId22"/>
    <p:sldId id="303" r:id="rId23"/>
    <p:sldId id="311" r:id="rId24"/>
    <p:sldId id="283" r:id="rId25"/>
    <p:sldId id="284" r:id="rId26"/>
    <p:sldId id="285" r:id="rId27"/>
    <p:sldId id="287" r:id="rId28"/>
    <p:sldId id="296" r:id="rId29"/>
    <p:sldId id="295" r:id="rId30"/>
    <p:sldId id="289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 varScale="1">
        <p:scale>
          <a:sx n="91" d="100"/>
          <a:sy n="91" d="100"/>
        </p:scale>
        <p:origin x="-1308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B71DA-2E34-42C4-9351-4CCFB5191C8E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133F55-00BB-40B5-8F0F-2ED76CCAD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54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133F55-00BB-40B5-8F0F-2ED76CCAD78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41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8B3E-9F67-4A5B-865A-D3B30D6CCBA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0E8ED-14C4-4108-90E6-2BF9DDF15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5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8B3E-9F67-4A5B-865A-D3B30D6CCBA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0E8ED-14C4-4108-90E6-2BF9DDF15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378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8B3E-9F67-4A5B-865A-D3B30D6CCBA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0E8ED-14C4-4108-90E6-2BF9DDF15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212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8B3E-9F67-4A5B-865A-D3B30D6CCBA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0E8ED-14C4-4108-90E6-2BF9DDF15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057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8B3E-9F67-4A5B-865A-D3B30D6CCBA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0E8ED-14C4-4108-90E6-2BF9DDF15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061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8B3E-9F67-4A5B-865A-D3B30D6CCBA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0E8ED-14C4-4108-90E6-2BF9DDF15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8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8B3E-9F67-4A5B-865A-D3B30D6CCBA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0E8ED-14C4-4108-90E6-2BF9DDF15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190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8B3E-9F67-4A5B-865A-D3B30D6CCBA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0E8ED-14C4-4108-90E6-2BF9DDF15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59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8B3E-9F67-4A5B-865A-D3B30D6CCBA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0E8ED-14C4-4108-90E6-2BF9DDF15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801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8B3E-9F67-4A5B-865A-D3B30D6CCBA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0E8ED-14C4-4108-90E6-2BF9DDF15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933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8B3E-9F67-4A5B-865A-D3B30D6CCBA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0E8ED-14C4-4108-90E6-2BF9DDF15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920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325"/>
            <a:ext cx="68580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2400" y="1066800"/>
            <a:ext cx="4343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343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2322908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48B3E-9F67-4A5B-865A-D3B30D6CCBA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0E8ED-14C4-4108-90E6-2BF9DDF15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68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file:///\\p607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file:///\\p607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file:///\\IP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QUẢN TRỊ MẠNG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Nội</a:t>
            </a:r>
            <a:r>
              <a:rPr lang="en-US" b="1" dirty="0"/>
              <a:t> dung:</a:t>
            </a:r>
          </a:p>
          <a:p>
            <a:pPr marL="0" indent="0">
              <a:buNone/>
            </a:pPr>
            <a:r>
              <a:rPr lang="en-US" dirty="0"/>
              <a:t>	1.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Lan</a:t>
            </a:r>
            <a:r>
              <a:rPr lang="en-US"/>
              <a:t>: </a:t>
            </a:r>
            <a:r>
              <a:rPr lang="en-US" smtClean="0"/>
              <a:t>(Chia </a:t>
            </a:r>
            <a:r>
              <a:rPr lang="en-US" dirty="0" err="1"/>
              <a:t>sẻ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Lan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 smtClean="0"/>
              <a:t>3</a:t>
            </a:r>
            <a:r>
              <a:rPr lang="en-US" dirty="0"/>
              <a:t>.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Router (Chia </a:t>
            </a:r>
            <a:r>
              <a:rPr lang="en-US" dirty="0" err="1"/>
              <a:t>mạng</a:t>
            </a:r>
            <a:r>
              <a:rPr lang="en-US" dirty="0"/>
              <a:t> con -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RouterSim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4.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Vmware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Server,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trạm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5.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Server</a:t>
            </a:r>
          </a:p>
        </p:txBody>
      </p:sp>
    </p:spTree>
    <p:extLst>
      <p:ext uri="{BB962C8B-B14F-4D97-AF65-F5344CB8AC3E}">
        <p14:creationId xmlns:p14="http://schemas.microsoft.com/office/powerpoint/2010/main" val="2732516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Tuần</a:t>
            </a:r>
            <a:r>
              <a:rPr lang="en-US" dirty="0"/>
              <a:t> 1-3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err="1"/>
              <a:t>Chuẩn</a:t>
            </a:r>
            <a:r>
              <a:rPr lang="en-US" b="1" dirty="0"/>
              <a:t> </a:t>
            </a:r>
            <a:r>
              <a:rPr lang="en-US" b="1" dirty="0" err="1"/>
              <a:t>bị</a:t>
            </a:r>
            <a:r>
              <a:rPr lang="en-US" b="1" dirty="0"/>
              <a:t>: </a:t>
            </a:r>
            <a:r>
              <a:rPr lang="en-US" b="1" dirty="0" err="1"/>
              <a:t>Tải</a:t>
            </a:r>
            <a:r>
              <a:rPr lang="en-US" b="1" dirty="0"/>
              <a:t> </a:t>
            </a:r>
            <a:r>
              <a:rPr lang="en-US" b="1" dirty="0" err="1"/>
              <a:t>phần</a:t>
            </a:r>
            <a:r>
              <a:rPr lang="en-US" b="1" dirty="0"/>
              <a:t> </a:t>
            </a:r>
            <a:r>
              <a:rPr lang="en-US" b="1" dirty="0" err="1"/>
              <a:t>mềm</a:t>
            </a:r>
            <a:r>
              <a:rPr lang="en-US" b="1" dirty="0"/>
              <a:t> </a:t>
            </a:r>
            <a:r>
              <a:rPr lang="en-US" b="1" dirty="0" err="1"/>
              <a:t>trên</a:t>
            </a:r>
            <a:r>
              <a:rPr lang="en-US" b="1" dirty="0"/>
              <a:t> link google drive</a:t>
            </a:r>
          </a:p>
          <a:p>
            <a:pPr marL="0" lvl="0" indent="0">
              <a:buNone/>
            </a:pPr>
            <a:r>
              <a:rPr lang="en-US" dirty="0"/>
              <a:t>1.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ảo</a:t>
            </a:r>
            <a:r>
              <a:rPr lang="en-US" dirty="0"/>
              <a:t>: </a:t>
            </a:r>
            <a:r>
              <a:rPr lang="en-US" dirty="0" err="1"/>
              <a:t>Vmware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HĐH Win 10; Win 7,8/64bit: </a:t>
            </a:r>
            <a:r>
              <a:rPr lang="en-US" dirty="0" err="1"/>
              <a:t>Vmware</a:t>
            </a:r>
            <a:r>
              <a:rPr lang="en-US" dirty="0"/>
              <a:t> 10  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HĐH Win 7/32bit: </a:t>
            </a:r>
            <a:r>
              <a:rPr lang="en-US" dirty="0" err="1"/>
              <a:t>Vmware</a:t>
            </a:r>
            <a:r>
              <a:rPr lang="en-US" dirty="0"/>
              <a:t> 7,6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ảo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      - Server2003.zip   -&gt;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nén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- XP2.rar               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nén</a:t>
            </a:r>
            <a:r>
              <a:rPr lang="en-US" dirty="0"/>
              <a:t>           </a:t>
            </a:r>
          </a:p>
          <a:p>
            <a:pPr marL="0" indent="0">
              <a:buNone/>
            </a:pPr>
            <a:r>
              <a:rPr lang="en-US" dirty="0"/>
              <a:t>      - Hiren’s boot 13.iso</a:t>
            </a:r>
          </a:p>
          <a:p>
            <a:pPr marL="0" indent="0">
              <a:buNone/>
            </a:pPr>
            <a:r>
              <a:rPr lang="en-US" dirty="0"/>
              <a:t>      - TFTPD32.rar      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nén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- Camtasia.msi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183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Máy</a:t>
            </a:r>
            <a:r>
              <a:rPr lang="en-US" b="1" dirty="0"/>
              <a:t> </a:t>
            </a:r>
            <a:r>
              <a:rPr lang="en-US" b="1" dirty="0" err="1"/>
              <a:t>ảo</a:t>
            </a:r>
            <a:r>
              <a:rPr lang="en-US" b="1" dirty="0"/>
              <a:t> </a:t>
            </a:r>
            <a:r>
              <a:rPr lang="en-US" b="1" dirty="0" err="1"/>
              <a:t>Vmware</a:t>
            </a:r>
            <a:r>
              <a:rPr lang="en-US" b="1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C1: File\New\Virtual Machine\Next\ Next \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Version: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??? \Next 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\Next \Next \Finish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C2: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Nháy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chuột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a New Virtual Machine-&gt; …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VD: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 7 64bit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D:\MANGMT\Win 7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HDD: 25GB; RAM: 1Gb;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LAN: Host only;</a:t>
            </a:r>
          </a:p>
          <a:p>
            <a:pPr marL="0" indent="0" algn="just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Nháy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chuột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 Settings \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chọn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đúng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thông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số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\OK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383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ảo</a:t>
            </a:r>
            <a:r>
              <a:rPr lang="en-US" dirty="0"/>
              <a:t> </a:t>
            </a:r>
            <a:r>
              <a:rPr lang="en-US" dirty="0" err="1"/>
              <a:t>Vmware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456" y="1417637"/>
            <a:ext cx="7876903" cy="51268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Gắn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đĩa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CD-ROM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ảo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Nháy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Settings\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dòng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CD-ROM 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cửa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Use ISO Image file  Browse 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file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(*.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iso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 OK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VD: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gắn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đĩa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Hiren’s boot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4.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Truy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cập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Bios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C1: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Khởi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máy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ảo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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nhấn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F2; ESC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C2: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Tắt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máy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ảo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-&gt; VM-&gt; Power -&gt; Power On to Bios</a:t>
            </a:r>
          </a:p>
        </p:txBody>
      </p:sp>
    </p:spTree>
    <p:extLst>
      <p:ext uri="{BB962C8B-B14F-4D97-AF65-F5344CB8AC3E}">
        <p14:creationId xmlns:p14="http://schemas.microsoft.com/office/powerpoint/2010/main" val="33310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4763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5.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Tạo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bản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sao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VM\ snapshot \Take snapshot \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nhập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tên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mô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tả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 Take snapshot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6.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Cài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Vmware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Tools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VM\ Install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Vmware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Tools … </a:t>
            </a:r>
          </a:p>
          <a:p>
            <a:pPr marL="0" indent="0" algn="just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ổ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đĩa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chung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máy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thật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b1: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Nháy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chuột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máy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\ Settings \ Options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b2: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dòng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Shared Folders \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cửa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sổ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Always enabled \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mục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Map as…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b3: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Add \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Next \ Browse \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mục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chung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máy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\ Next \ Finish \ OK</a:t>
            </a:r>
          </a:p>
          <a:p>
            <a:pPr marL="0" indent="0" algn="just">
              <a:buNone/>
            </a:pPr>
            <a:endParaRPr lang="en-US" sz="1800" dirty="0"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1365069" y="417513"/>
            <a:ext cx="61722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3300" kern="0" dirty="0" err="1"/>
              <a:t>Máy</a:t>
            </a:r>
            <a:r>
              <a:rPr lang="en-US" sz="3300" kern="0" dirty="0"/>
              <a:t> </a:t>
            </a:r>
            <a:r>
              <a:rPr lang="en-US" sz="3300" kern="0" dirty="0" err="1"/>
              <a:t>ảo</a:t>
            </a:r>
            <a:r>
              <a:rPr lang="en-US" sz="3300" kern="0" dirty="0"/>
              <a:t> </a:t>
            </a:r>
            <a:r>
              <a:rPr lang="en-US" sz="3300" kern="0" dirty="0" err="1"/>
              <a:t>Vmware</a:t>
            </a:r>
            <a:endParaRPr lang="en-US" sz="3300" kern="0" dirty="0"/>
          </a:p>
        </p:txBody>
      </p:sp>
    </p:spTree>
    <p:extLst>
      <p:ext uri="{BB962C8B-B14F-4D97-AF65-F5344CB8AC3E}">
        <p14:creationId xmlns:p14="http://schemas.microsoft.com/office/powerpoint/2010/main" val="2164349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just">
              <a:buNone/>
            </a:pPr>
            <a:r>
              <a:rPr lang="en-US" sz="2800" b="1" i="1" dirty="0"/>
              <a:t> </a:t>
            </a:r>
            <a:r>
              <a:rPr lang="vi-VN" sz="2800" b="1" i="1" dirty="0"/>
              <a:t>Chú ý: Kết thúc từng phần cần tạo 1 bản Snapshot: </a:t>
            </a:r>
            <a:r>
              <a:rPr lang="vi-VN" sz="2800" i="1" dirty="0">
                <a:latin typeface="+mj-lt"/>
              </a:rPr>
              <a:t>Bản snapshot cho phép người dùng có thể quay lại trạng thái trước và sau khi cấu hình một cách nhanh chóng mà không mất dữ liệu.</a:t>
            </a:r>
            <a:r>
              <a:rPr lang="en-US" sz="2800" dirty="0">
                <a:latin typeface="+mj-lt"/>
              </a:rPr>
              <a:t>Sao </a:t>
            </a:r>
            <a:r>
              <a:rPr lang="en-US" sz="2800" dirty="0" err="1">
                <a:latin typeface="+mj-lt"/>
              </a:rPr>
              <a:t>lưu</a:t>
            </a:r>
            <a:r>
              <a:rPr lang="en-US" sz="2800" dirty="0">
                <a:latin typeface="+mj-lt"/>
              </a:rPr>
              <a:t>: VM/Snapshot/ Take snapshot/ </a:t>
            </a:r>
            <a:r>
              <a:rPr lang="en-US" sz="2800" dirty="0" err="1">
                <a:latin typeface="+mj-lt"/>
              </a:rPr>
              <a:t>đặt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tên</a:t>
            </a:r>
            <a:r>
              <a:rPr lang="en-US" sz="2800" dirty="0">
                <a:latin typeface="+mj-lt"/>
              </a:rPr>
              <a:t>/OK</a:t>
            </a:r>
          </a:p>
          <a:p>
            <a:pPr marL="0" indent="0" algn="just">
              <a:buNone/>
            </a:pPr>
            <a:r>
              <a:rPr lang="en-US" sz="2800" dirty="0">
                <a:latin typeface="+mj-lt"/>
              </a:rPr>
              <a:t>Restore: VM/Snapshot/snapshot manage/ </a:t>
            </a:r>
            <a:r>
              <a:rPr lang="en-US" sz="2800" dirty="0" err="1">
                <a:latin typeface="+mj-lt"/>
              </a:rPr>
              <a:t>Chọn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thời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điểm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cần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thiết</a:t>
            </a:r>
            <a:r>
              <a:rPr lang="en-US" sz="2800" dirty="0">
                <a:latin typeface="+mj-lt"/>
              </a:rPr>
              <a:t> / </a:t>
            </a:r>
            <a:r>
              <a:rPr lang="en-US" sz="2800" dirty="0" err="1">
                <a:latin typeface="+mj-lt"/>
              </a:rPr>
              <a:t>goto</a:t>
            </a:r>
            <a:endParaRPr lang="en-US" sz="2800" dirty="0">
              <a:latin typeface="+mj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4" t="9706" r="43970" b="61529"/>
          <a:stretch/>
        </p:blipFill>
        <p:spPr bwMode="auto">
          <a:xfrm>
            <a:off x="609600" y="1277470"/>
            <a:ext cx="8246429" cy="2436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xmlns="" id="{07BF4B88-104B-1C04-636F-9B3AFC16EC99}"/>
              </a:ext>
            </a:extLst>
          </p:cNvPr>
          <p:cNvSpPr txBox="1">
            <a:spLocks/>
          </p:cNvSpPr>
          <p:nvPr/>
        </p:nvSpPr>
        <p:spPr bwMode="auto">
          <a:xfrm>
            <a:off x="1365069" y="417513"/>
            <a:ext cx="61722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3300" kern="0" dirty="0" err="1"/>
              <a:t>Máy</a:t>
            </a:r>
            <a:r>
              <a:rPr lang="en-US" sz="3300" kern="0" dirty="0"/>
              <a:t> </a:t>
            </a:r>
            <a:r>
              <a:rPr lang="en-US" sz="3300" kern="0" dirty="0" err="1"/>
              <a:t>ảo</a:t>
            </a:r>
            <a:r>
              <a:rPr lang="en-US" sz="3300" kern="0" dirty="0"/>
              <a:t> </a:t>
            </a:r>
            <a:r>
              <a:rPr lang="en-US" sz="3300" kern="0" dirty="0" err="1"/>
              <a:t>Vmware</a:t>
            </a:r>
            <a:endParaRPr lang="en-US" sz="3300" kern="0" dirty="0"/>
          </a:p>
        </p:txBody>
      </p:sp>
    </p:spTree>
    <p:extLst>
      <p:ext uri="{BB962C8B-B14F-4D97-AF65-F5344CB8AC3E}">
        <p14:creationId xmlns:p14="http://schemas.microsoft.com/office/powerpoint/2010/main" val="3349154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QUẢN TRỊ MẠNG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: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Server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,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–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(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http://canh.nhatnghe.vn/090210/DeploySoftware_files/image002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514600"/>
            <a:ext cx="5029200" cy="36893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6934200" y="2286000"/>
            <a:ext cx="2209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IP:     192.168.1.1   </a:t>
            </a:r>
          </a:p>
          <a:p>
            <a:r>
              <a:rPr lang="en-US" dirty="0"/>
              <a:t>SM:  255.255.255.0</a:t>
            </a:r>
          </a:p>
          <a:p>
            <a:r>
              <a:rPr lang="en-US" dirty="0"/>
              <a:t>DF:   192.168.1.254</a:t>
            </a:r>
          </a:p>
          <a:p>
            <a:r>
              <a:rPr lang="en-US" dirty="0"/>
              <a:t>DNS: 192.168.1.1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200" y="5193268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Account: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6019284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IP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trạm</a:t>
            </a:r>
            <a:r>
              <a:rPr lang="en-US" dirty="0"/>
              <a:t>: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314700" y="2438400"/>
            <a:ext cx="2209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IP:     192.168.1.</a:t>
            </a:r>
            <a:r>
              <a:rPr lang="en-US" sz="2400" dirty="0">
                <a:solidFill>
                  <a:srgbClr val="FF0000"/>
                </a:solidFill>
              </a:rPr>
              <a:t>11</a:t>
            </a:r>
            <a:r>
              <a:rPr lang="en-US" dirty="0"/>
              <a:t>  </a:t>
            </a:r>
          </a:p>
          <a:p>
            <a:r>
              <a:rPr lang="en-US" dirty="0"/>
              <a:t>SM:  255.255.255.0</a:t>
            </a:r>
          </a:p>
          <a:p>
            <a:r>
              <a:rPr lang="en-US" dirty="0"/>
              <a:t>DF:   192.168.1.254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5530334"/>
            <a:ext cx="2209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IP:     192.168.1.</a:t>
            </a:r>
            <a:r>
              <a:rPr lang="en-US" sz="2800" dirty="0">
                <a:solidFill>
                  <a:srgbClr val="FF0000"/>
                </a:solidFill>
              </a:rPr>
              <a:t>10</a:t>
            </a:r>
            <a:r>
              <a:rPr lang="en-US" dirty="0"/>
              <a:t>  </a:t>
            </a:r>
          </a:p>
          <a:p>
            <a:r>
              <a:rPr lang="en-US" dirty="0"/>
              <a:t>SM:  255.255.255.0</a:t>
            </a:r>
          </a:p>
          <a:p>
            <a:r>
              <a:rPr lang="en-US" dirty="0"/>
              <a:t>DF:   192.168.1.254</a:t>
            </a:r>
          </a:p>
        </p:txBody>
      </p:sp>
    </p:spTree>
    <p:extLst>
      <p:ext uri="{BB962C8B-B14F-4D97-AF65-F5344CB8AC3E}">
        <p14:creationId xmlns:p14="http://schemas.microsoft.com/office/powerpoint/2010/main" val="2539648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nhà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 err="1"/>
              <a:t>Tải</a:t>
            </a:r>
            <a:r>
              <a:rPr lang="en-US" dirty="0"/>
              <a:t> 2 file server_2008; XP2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Vmware</a:t>
            </a:r>
            <a:r>
              <a:rPr lang="en-US" dirty="0"/>
              <a:t> (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mặc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)</a:t>
            </a:r>
          </a:p>
          <a:p>
            <a:pPr marL="514350" indent="-514350">
              <a:buAutoNum type="arabicPeriod"/>
            </a:pP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nén</a:t>
            </a:r>
            <a:r>
              <a:rPr lang="en-US" dirty="0"/>
              <a:t> 2 file (Extract here)</a:t>
            </a:r>
          </a:p>
          <a:p>
            <a:pPr marL="514350" indent="-514350">
              <a:buAutoNum type="arabicPeriod"/>
            </a:pP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ảo</a:t>
            </a:r>
            <a:r>
              <a:rPr lang="en-US" dirty="0"/>
              <a:t> Server 2008 (</a:t>
            </a:r>
            <a:r>
              <a:rPr lang="en-US" dirty="0" err="1"/>
              <a:t>mk</a:t>
            </a:r>
            <a:r>
              <a:rPr lang="en-US" dirty="0"/>
              <a:t>: 123456a@)`</a:t>
            </a:r>
          </a:p>
        </p:txBody>
      </p:sp>
    </p:spTree>
    <p:extLst>
      <p:ext uri="{BB962C8B-B14F-4D97-AF65-F5344CB8AC3E}">
        <p14:creationId xmlns:p14="http://schemas.microsoft.com/office/powerpoint/2010/main" val="1235546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CA6B29-8565-AC73-3993-140ABADDF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Tuần</a:t>
            </a:r>
            <a:r>
              <a:rPr lang="en-US" dirty="0"/>
              <a:t>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7E1CA24-65FA-31EC-F2BF-DCC88433D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err="1">
                <a:solidFill>
                  <a:srgbClr val="FF0000"/>
                </a:solidFill>
              </a:rPr>
              <a:t>Mở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Vmware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 Close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các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máy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đang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mở</a:t>
            </a:r>
            <a:endParaRPr lang="en-US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Restore Server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về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trạng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thái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chưa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cấu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hình</a:t>
            </a:r>
            <a:endParaRPr lang="en-US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514350" indent="-514350">
              <a:buAutoNum type="arabicPeriod"/>
            </a:pPr>
            <a:r>
              <a:rPr lang="en-US" dirty="0" err="1">
                <a:sym typeface="Wingdings" panose="05000000000000000000" pitchFamily="2" charset="2"/>
              </a:rPr>
              <a:t>Mở</a:t>
            </a:r>
            <a:r>
              <a:rPr lang="en-US" dirty="0">
                <a:sym typeface="Wingdings" panose="05000000000000000000" pitchFamily="2" charset="2"/>
              </a:rPr>
              <a:t> Server  </a:t>
            </a:r>
            <a:r>
              <a:rPr lang="en-US" dirty="0" err="1">
                <a:sym typeface="Wingdings" panose="05000000000000000000" pitchFamily="2" charset="2"/>
              </a:rPr>
              <a:t>đặt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tên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 err="1">
                <a:sym typeface="Wingdings" panose="05000000000000000000" pitchFamily="2" charset="2"/>
              </a:rPr>
              <a:t>đặt</a:t>
            </a:r>
            <a:r>
              <a:rPr lang="en-US" dirty="0">
                <a:sym typeface="Wingdings" panose="05000000000000000000" pitchFamily="2" charset="2"/>
              </a:rPr>
              <a:t> Ip </a:t>
            </a:r>
            <a:r>
              <a:rPr lang="en-US" dirty="0" err="1">
                <a:sym typeface="Wingdings" panose="05000000000000000000" pitchFamily="2" charset="2"/>
              </a:rPr>
              <a:t>tĩnh</a:t>
            </a:r>
            <a:endParaRPr lang="en-US" dirty="0">
              <a:sym typeface="Wingdings" panose="05000000000000000000" pitchFamily="2" charset="2"/>
            </a:endParaRPr>
          </a:p>
          <a:p>
            <a:pPr marL="514350" indent="-514350">
              <a:buAutoNum type="arabicPeriod"/>
            </a:pPr>
            <a:r>
              <a:rPr lang="en-US" dirty="0" err="1">
                <a:sym typeface="Wingdings" panose="05000000000000000000" pitchFamily="2" charset="2"/>
              </a:rPr>
              <a:t>Cài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đặt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dịch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vụ</a:t>
            </a:r>
            <a:r>
              <a:rPr lang="en-US" dirty="0">
                <a:sym typeface="Wingdings" panose="05000000000000000000" pitchFamily="2" charset="2"/>
              </a:rPr>
              <a:t> DHCP </a:t>
            </a:r>
            <a:r>
              <a:rPr lang="en-US" dirty="0" err="1">
                <a:sym typeface="Wingdings" panose="05000000000000000000" pitchFamily="2" charset="2"/>
              </a:rPr>
              <a:t>cho</a:t>
            </a:r>
            <a:r>
              <a:rPr lang="en-US" dirty="0">
                <a:sym typeface="Wingdings" panose="05000000000000000000" pitchFamily="2" charset="2"/>
              </a:rPr>
              <a:t> Server</a:t>
            </a:r>
          </a:p>
          <a:p>
            <a:pPr marL="514350" indent="-514350">
              <a:buAutoNum type="arabicPeriod"/>
            </a:pPr>
            <a:r>
              <a:rPr lang="en-US" dirty="0" err="1">
                <a:sym typeface="Wingdings" panose="05000000000000000000" pitchFamily="2" charset="2"/>
              </a:rPr>
              <a:t>Cấu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hình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cấp</a:t>
            </a:r>
            <a:r>
              <a:rPr lang="en-US" dirty="0">
                <a:sym typeface="Wingdings" panose="05000000000000000000" pitchFamily="2" charset="2"/>
              </a:rPr>
              <a:t> IP </a:t>
            </a:r>
            <a:r>
              <a:rPr lang="en-US" dirty="0" err="1">
                <a:sym typeface="Wingdings" panose="05000000000000000000" pitchFamily="2" charset="2"/>
              </a:rPr>
              <a:t>động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trên</a:t>
            </a:r>
            <a:r>
              <a:rPr lang="en-US" dirty="0">
                <a:sym typeface="Wingdings" panose="05000000000000000000" pitchFamily="2" charset="2"/>
              </a:rPr>
              <a:t> Server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Sao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lưu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trạng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thái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>
                <a:solidFill>
                  <a:srgbClr val="FF0000"/>
                </a:solidFill>
                <a:sym typeface="Wingdings" panose="05000000000000000000" pitchFamily="2" charset="2"/>
              </a:rPr>
              <a:t>(</a:t>
            </a:r>
            <a:r>
              <a:rPr lang="en-US" smtClean="0">
                <a:solidFill>
                  <a:srgbClr val="FF0000"/>
                </a:solidFill>
                <a:sym typeface="Wingdings" panose="05000000000000000000" pitchFamily="2" charset="2"/>
              </a:rPr>
              <a:t>9-10-2024)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(VM/snapshot/Takes snapshot 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đặt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tên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-..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819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3170"/>
            <a:ext cx="8229600" cy="53555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1. </a:t>
            </a:r>
            <a:r>
              <a:rPr lang="en-US" sz="2400" b="1" dirty="0" err="1">
                <a:solidFill>
                  <a:srgbClr val="C00000"/>
                </a:solidFill>
              </a:rPr>
              <a:t>Cài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đặt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dịch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vụ</a:t>
            </a:r>
            <a:r>
              <a:rPr lang="en-US" sz="2400" b="1" dirty="0">
                <a:solidFill>
                  <a:srgbClr val="C00000"/>
                </a:solidFill>
              </a:rPr>
              <a:t> DHCP </a:t>
            </a:r>
            <a:r>
              <a:rPr lang="en-US" sz="2400" b="1" dirty="0" err="1">
                <a:solidFill>
                  <a:srgbClr val="C00000"/>
                </a:solidFill>
              </a:rPr>
              <a:t>trên</a:t>
            </a:r>
            <a:r>
              <a:rPr lang="en-US" sz="2400" b="1" dirty="0">
                <a:solidFill>
                  <a:srgbClr val="C00000"/>
                </a:solidFill>
              </a:rPr>
              <a:t> Server</a:t>
            </a:r>
          </a:p>
          <a:p>
            <a:pPr marL="0" indent="0" algn="just">
              <a:buNone/>
            </a:pPr>
            <a:r>
              <a:rPr lang="en-US" sz="2400" dirty="0"/>
              <a:t>Start / Admin Tools / Server Manager / </a:t>
            </a:r>
            <a:r>
              <a:rPr lang="en-US" sz="2400" dirty="0" err="1"/>
              <a:t>Chuyển</a:t>
            </a:r>
            <a:r>
              <a:rPr lang="en-US" sz="2400" dirty="0"/>
              <a:t> </a:t>
            </a:r>
            <a:r>
              <a:rPr lang="en-US" sz="2400" dirty="0" err="1"/>
              <a:t>đến</a:t>
            </a:r>
            <a:r>
              <a:rPr lang="en-US" sz="2400" dirty="0"/>
              <a:t> </a:t>
            </a:r>
            <a:r>
              <a:rPr lang="en-US" sz="2400" dirty="0" err="1"/>
              <a:t>mục</a:t>
            </a:r>
            <a:r>
              <a:rPr lang="en-US" sz="2400" dirty="0"/>
              <a:t> Roles summary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 err="1">
                <a:sym typeface="Wingdings" panose="05000000000000000000" pitchFamily="2" charset="2"/>
              </a:rPr>
              <a:t>Chọn</a:t>
            </a:r>
            <a:r>
              <a:rPr lang="en-US" sz="2400" dirty="0">
                <a:sym typeface="Wingdings" panose="05000000000000000000" pitchFamily="2" charset="2"/>
              </a:rPr>
              <a:t> Add Roles  next -&gt; </a:t>
            </a:r>
            <a:r>
              <a:rPr lang="en-US" sz="2400" dirty="0" err="1">
                <a:sym typeface="Wingdings" panose="05000000000000000000" pitchFamily="2" charset="2"/>
              </a:rPr>
              <a:t>đánh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dấu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chọn</a:t>
            </a:r>
            <a:r>
              <a:rPr lang="en-US" sz="2400" dirty="0">
                <a:sym typeface="Wingdings" panose="05000000000000000000" pitchFamily="2" charset="2"/>
              </a:rPr>
              <a:t> 2 </a:t>
            </a:r>
            <a:r>
              <a:rPr lang="en-US" sz="2400" dirty="0" err="1">
                <a:sym typeface="Wingdings" panose="05000000000000000000" pitchFamily="2" charset="2"/>
              </a:rPr>
              <a:t>dòng</a:t>
            </a:r>
            <a:r>
              <a:rPr lang="en-US" sz="2400" dirty="0">
                <a:sym typeface="Wingdings" panose="05000000000000000000" pitchFamily="2" charset="2"/>
              </a:rPr>
              <a:t> DHCP server; DNS server  next … Install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DHCP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B1: Start/ Admin Tools/ DHCP/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IPV4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B2: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Nháy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IPV4/ New scope/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err="1"/>
              <a:t>Cấp</a:t>
            </a:r>
            <a:r>
              <a:rPr lang="en-US" sz="2400" dirty="0"/>
              <a:t> 50 </a:t>
            </a:r>
            <a:r>
              <a:rPr lang="en-US" sz="2400" dirty="0" err="1"/>
              <a:t>địa</a:t>
            </a:r>
            <a:r>
              <a:rPr lang="en-US" sz="2400" dirty="0"/>
              <a:t> </a:t>
            </a:r>
            <a:r>
              <a:rPr lang="en-US" sz="2400" dirty="0" err="1"/>
              <a:t>chỉ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192.168.1.10 -&gt; 192.168.1.60</a:t>
            </a:r>
          </a:p>
          <a:p>
            <a:pPr marL="0" indent="0">
              <a:buNone/>
            </a:pPr>
            <a:r>
              <a:rPr lang="en-US" sz="2400" dirty="0" err="1"/>
              <a:t>Dành</a:t>
            </a:r>
            <a:r>
              <a:rPr lang="en-US" sz="2400" dirty="0"/>
              <a:t> </a:t>
            </a:r>
            <a:r>
              <a:rPr lang="en-US" sz="2400" dirty="0" err="1"/>
              <a:t>riêng</a:t>
            </a:r>
            <a:r>
              <a:rPr lang="en-US" sz="2400" dirty="0"/>
              <a:t> 3 đ/c (10,11,12)         </a:t>
            </a: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giữ</a:t>
            </a:r>
            <a:r>
              <a:rPr lang="en-US" sz="2400" dirty="0"/>
              <a:t> </a:t>
            </a:r>
            <a:r>
              <a:rPr lang="en-US" sz="2400" dirty="0" err="1"/>
              <a:t>chỗ</a:t>
            </a:r>
            <a:r>
              <a:rPr lang="en-US" sz="2400" dirty="0"/>
              <a:t>: 3h</a:t>
            </a:r>
          </a:p>
          <a:p>
            <a:pPr marL="0" indent="0">
              <a:buNone/>
            </a:pPr>
            <a:r>
              <a:rPr lang="en-US" sz="2400" dirty="0"/>
              <a:t>          Start Ip: </a:t>
            </a:r>
            <a:r>
              <a:rPr lang="en-US" sz="2400" dirty="0">
                <a:solidFill>
                  <a:srgbClr val="FF0000"/>
                </a:solidFill>
              </a:rPr>
              <a:t>192.168.1.10</a:t>
            </a:r>
          </a:p>
          <a:p>
            <a:pPr marL="0" indent="0">
              <a:buNone/>
            </a:pPr>
            <a:r>
              <a:rPr lang="en-US" sz="2400" dirty="0"/>
              <a:t>            End Ip: </a:t>
            </a:r>
            <a:r>
              <a:rPr lang="en-US" sz="2400" dirty="0">
                <a:solidFill>
                  <a:srgbClr val="FF0000"/>
                </a:solidFill>
              </a:rPr>
              <a:t>192.168.1.60</a:t>
            </a:r>
          </a:p>
          <a:p>
            <a:pPr marL="0" indent="0">
              <a:buNone/>
            </a:pPr>
            <a:r>
              <a:rPr lang="en-US" sz="2400" dirty="0"/>
              <a:t>           Router (Default gateway):  </a:t>
            </a:r>
            <a:r>
              <a:rPr lang="en-US" sz="2400" dirty="0">
                <a:solidFill>
                  <a:srgbClr val="FF0000"/>
                </a:solidFill>
              </a:rPr>
              <a:t>192.168.1.254</a:t>
            </a:r>
          </a:p>
          <a:p>
            <a:pPr marL="0" indent="0">
              <a:buNone/>
            </a:pPr>
            <a:r>
              <a:rPr lang="en-US" sz="2400" dirty="0" err="1"/>
              <a:t>Cấu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xong</a:t>
            </a:r>
            <a:r>
              <a:rPr lang="en-US" sz="2400" dirty="0"/>
              <a:t>-&gt; </a:t>
            </a:r>
            <a:r>
              <a:rPr lang="en-US" sz="2400" dirty="0" err="1"/>
              <a:t>chuyển</a:t>
            </a:r>
            <a:r>
              <a:rPr lang="en-US" sz="2400" dirty="0"/>
              <a:t> sang </a:t>
            </a:r>
            <a:r>
              <a:rPr lang="en-US" sz="2400" dirty="0" err="1"/>
              <a:t>Xp</a:t>
            </a:r>
            <a:r>
              <a:rPr lang="en-US" sz="2400" dirty="0"/>
              <a:t> </a:t>
            </a:r>
            <a:r>
              <a:rPr lang="en-US" sz="2400" dirty="0" err="1"/>
              <a:t>kiểm</a:t>
            </a:r>
            <a:r>
              <a:rPr lang="en-US" sz="2400" dirty="0"/>
              <a:t> </a:t>
            </a:r>
            <a:r>
              <a:rPr lang="en-US" sz="2400" dirty="0" err="1"/>
              <a:t>tra</a:t>
            </a:r>
            <a:r>
              <a:rPr lang="en-US" sz="2400" dirty="0"/>
              <a:t> IP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cấp</a:t>
            </a:r>
            <a:endParaRPr lang="en-US" sz="2400" dirty="0"/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09600" y="2301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TUẦN </a:t>
            </a:r>
            <a:r>
              <a:rPr lang="en-US" sz="3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5: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DHCP</a:t>
            </a:r>
          </a:p>
        </p:txBody>
      </p:sp>
    </p:spTree>
    <p:extLst>
      <p:ext uri="{BB962C8B-B14F-4D97-AF65-F5344CB8AC3E}">
        <p14:creationId xmlns:p14="http://schemas.microsoft.com/office/powerpoint/2010/main" val="4270932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EBA691-B6DF-ADC8-868B-DA3EA2666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err="1"/>
              <a:t>tập</a:t>
            </a:r>
            <a:r>
              <a:rPr lang="en-US"/>
              <a:t> </a:t>
            </a:r>
            <a:r>
              <a:rPr lang="en-US" smtClean="0"/>
              <a:t>DHCP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3747EDA-8118-80D4-5091-D945CD756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456" y="1373804"/>
            <a:ext cx="8563087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/>
              <a:t>Restore </a:t>
            </a:r>
            <a:r>
              <a:rPr lang="en-US" dirty="0"/>
              <a:t>Server_2008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Server_New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Server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dải</a:t>
            </a:r>
            <a:r>
              <a:rPr lang="en-US" dirty="0"/>
              <a:t> IP 192.10.</a:t>
            </a:r>
            <a:r>
              <a:rPr lang="en-US" dirty="0">
                <a:solidFill>
                  <a:srgbClr val="FF0000"/>
                </a:solidFill>
              </a:rPr>
              <a:t>STT</a:t>
            </a:r>
            <a:r>
              <a:rPr lang="en-US" dirty="0"/>
              <a:t>.x/24</a:t>
            </a:r>
          </a:p>
          <a:p>
            <a:pPr marL="0" indent="0">
              <a:buNone/>
            </a:pPr>
            <a:r>
              <a:rPr lang="en-US" b="1" i="1" dirty="0" err="1"/>
              <a:t>Hãy</a:t>
            </a:r>
            <a:r>
              <a:rPr lang="en-US" b="1" i="1" dirty="0"/>
              <a:t> </a:t>
            </a:r>
            <a:r>
              <a:rPr lang="en-US" b="1" i="1" dirty="0" err="1"/>
              <a:t>cấu</a:t>
            </a:r>
            <a:r>
              <a:rPr lang="en-US" b="1" i="1" dirty="0"/>
              <a:t> </a:t>
            </a:r>
            <a:r>
              <a:rPr lang="en-US" b="1" i="1" dirty="0" err="1"/>
              <a:t>hình</a:t>
            </a:r>
            <a:r>
              <a:rPr lang="en-US" b="1" i="1" dirty="0"/>
              <a:t> DHCP </a:t>
            </a:r>
            <a:r>
              <a:rPr lang="en-US" b="1" i="1" dirty="0" err="1"/>
              <a:t>như</a:t>
            </a:r>
            <a:r>
              <a:rPr lang="en-US" b="1" i="1" dirty="0"/>
              <a:t> </a:t>
            </a:r>
            <a:r>
              <a:rPr lang="en-US" b="1" i="1" dirty="0" err="1"/>
              <a:t>sau</a:t>
            </a:r>
            <a:r>
              <a:rPr lang="en-US" b="1" i="1" dirty="0"/>
              <a:t>:</a:t>
            </a:r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dirty="0" err="1"/>
              <a:t>Cấp</a:t>
            </a:r>
            <a:r>
              <a:rPr lang="en-US" dirty="0"/>
              <a:t> 100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thuê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Ip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150 </a:t>
            </a:r>
            <a:r>
              <a:rPr lang="en-US" dirty="0" err="1"/>
              <a:t>phút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5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Sao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DHCP </a:t>
            </a:r>
            <a:r>
              <a:rPr lang="en-US" dirty="0">
                <a:solidFill>
                  <a:srgbClr val="FF0000"/>
                </a:solidFill>
              </a:rPr>
              <a:t>(Snapshot)</a:t>
            </a:r>
          </a:p>
          <a:p>
            <a:pPr marL="0" indent="0">
              <a:buNone/>
            </a:pPr>
            <a:r>
              <a:rPr lang="en-US" dirty="0" err="1">
                <a:sym typeface="Wingdings" panose="05000000000000000000" pitchFamily="2" charset="2"/>
              </a:rPr>
              <a:t>Chụp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ảnh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màn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hình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kết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quả</a:t>
            </a:r>
            <a:r>
              <a:rPr lang="en-US" dirty="0">
                <a:sym typeface="Wingdings" panose="05000000000000000000" pitchFamily="2" charset="2"/>
              </a:rPr>
              <a:t> (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Màn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hình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Address pool</a:t>
            </a:r>
            <a:r>
              <a:rPr lang="en-US" dirty="0">
                <a:sym typeface="Wingdings" panose="05000000000000000000" pitchFamily="2" charset="2"/>
              </a:rPr>
              <a:t>; </a:t>
            </a:r>
            <a:r>
              <a:rPr lang="en-US" dirty="0" err="1">
                <a:solidFill>
                  <a:srgbClr val="0070C0"/>
                </a:solidFill>
                <a:sym typeface="Wingdings" panose="05000000000000000000" pitchFamily="2" charset="2"/>
              </a:rPr>
              <a:t>màn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0070C0"/>
                </a:solidFill>
                <a:sym typeface="Wingdings" panose="05000000000000000000" pitchFamily="2" charset="2"/>
              </a:rPr>
              <a:t>hình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 test IP</a:t>
            </a:r>
            <a:r>
              <a:rPr lang="en-US" dirty="0">
                <a:sym typeface="Wingdings" panose="05000000000000000000" pitchFamily="2" charset="2"/>
              </a:rPr>
              <a:t>; </a:t>
            </a:r>
            <a:r>
              <a:rPr lang="en-US" dirty="0" err="1">
                <a:solidFill>
                  <a:srgbClr val="00B050"/>
                </a:solidFill>
                <a:sym typeface="Wingdings" panose="05000000000000000000" pitchFamily="2" charset="2"/>
              </a:rPr>
              <a:t>màn</a:t>
            </a:r>
            <a:r>
              <a:rPr lang="en-US" dirty="0">
                <a:solidFill>
                  <a:srgbClr val="00B05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00B050"/>
                </a:solidFill>
                <a:sym typeface="Wingdings" panose="05000000000000000000" pitchFamily="2" charset="2"/>
              </a:rPr>
              <a:t>hình</a:t>
            </a:r>
            <a:r>
              <a:rPr lang="en-US" dirty="0">
                <a:solidFill>
                  <a:srgbClr val="00B050"/>
                </a:solidFill>
                <a:sym typeface="Wingdings" panose="05000000000000000000" pitchFamily="2" charset="2"/>
              </a:rPr>
              <a:t> snapshot manager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ghi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vào</a:t>
            </a:r>
            <a:r>
              <a:rPr lang="en-US" dirty="0">
                <a:sym typeface="Wingdings" panose="05000000000000000000" pitchFamily="2" charset="2"/>
              </a:rPr>
              <a:t> file: </a:t>
            </a:r>
            <a:r>
              <a:rPr lang="en-US" dirty="0" err="1">
                <a:sym typeface="Wingdings" panose="05000000000000000000" pitchFamily="2" charset="2"/>
              </a:rPr>
              <a:t>STT_Hoten</a:t>
            </a:r>
            <a:r>
              <a:rPr lang="en-US" dirty="0">
                <a:sym typeface="Wingdings" panose="05000000000000000000" pitchFamily="2" charset="2"/>
              </a:rPr>
              <a:t> </a:t>
            </a:r>
            <a:r>
              <a:rPr lang="en-US" dirty="0" err="1">
                <a:sym typeface="Wingdings" panose="05000000000000000000" pitchFamily="2" charset="2"/>
              </a:rPr>
              <a:t>nộp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bài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  <a:hlinkClick r:id="rId2" action="ppaction://hlinkfile"/>
              </a:rPr>
              <a:t>\\p607</a:t>
            </a:r>
            <a:r>
              <a:rPr lang="en-US" dirty="0">
                <a:sym typeface="Wingdings" panose="05000000000000000000" pitchFamily="2" charset="2"/>
              </a:rPr>
              <a:t>  QTM_C910</a:t>
            </a: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648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D28919-38DC-C1CA-32C7-8C7BE20FC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IP </a:t>
            </a:r>
            <a:r>
              <a:rPr lang="en-US" dirty="0" err="1"/>
              <a:t>động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BED477D-8067-079B-1D37-0C1F6C0EF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Nguyên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nhân</a:t>
            </a:r>
            <a:r>
              <a:rPr lang="en-US" dirty="0">
                <a:solidFill>
                  <a:srgbClr val="FF0000"/>
                </a:solidFill>
              </a:rPr>
              <a:t> do VMware </a:t>
            </a:r>
            <a:r>
              <a:rPr lang="en-US" dirty="0" err="1">
                <a:solidFill>
                  <a:srgbClr val="FF0000"/>
                </a:solidFill>
              </a:rPr>
              <a:t>cấp</a:t>
            </a:r>
            <a:r>
              <a:rPr lang="en-US" dirty="0">
                <a:solidFill>
                  <a:srgbClr val="FF0000"/>
                </a:solidFill>
              </a:rPr>
              <a:t> Ip </a:t>
            </a:r>
            <a:r>
              <a:rPr lang="en-US" dirty="0" err="1">
                <a:solidFill>
                  <a:srgbClr val="FF0000"/>
                </a:solidFill>
              </a:rPr>
              <a:t>động</a:t>
            </a:r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cần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tắt</a:t>
            </a:r>
            <a:endParaRPr lang="en-US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 err="1">
                <a:sym typeface="Wingdings" panose="05000000000000000000" pitchFamily="2" charset="2"/>
              </a:rPr>
              <a:t>Mở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Vmware</a:t>
            </a:r>
            <a:r>
              <a:rPr lang="en-US" dirty="0">
                <a:sym typeface="Wingdings" panose="05000000000000000000" pitchFamily="2" charset="2"/>
              </a:rPr>
              <a:t>  Edit  Virtual Network Editor Change settings  Yes  </a:t>
            </a:r>
            <a:r>
              <a:rPr lang="en-US" dirty="0" err="1">
                <a:sym typeface="Wingdings" panose="05000000000000000000" pitchFamily="2" charset="2"/>
              </a:rPr>
              <a:t>Chọn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dòng</a:t>
            </a:r>
            <a:r>
              <a:rPr lang="en-US" dirty="0">
                <a:sym typeface="Wingdings" panose="05000000000000000000" pitchFamily="2" charset="2"/>
              </a:rPr>
              <a:t> Vnet1  </a:t>
            </a:r>
            <a:r>
              <a:rPr lang="en-US" dirty="0" err="1">
                <a:sym typeface="Wingdings" panose="05000000000000000000" pitchFamily="2" charset="2"/>
              </a:rPr>
              <a:t>bỏ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đánh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dấu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tại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mục</a:t>
            </a:r>
            <a:r>
              <a:rPr lang="en-US" dirty="0">
                <a:sym typeface="Wingdings" panose="05000000000000000000" pitchFamily="2" charset="2"/>
              </a:rPr>
              <a:t> Use Local DHCP… / Apply/OK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775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 err="1"/>
              <a:t>Mở</a:t>
            </a:r>
            <a:r>
              <a:rPr lang="en-US" b="1" i="1" dirty="0"/>
              <a:t> </a:t>
            </a:r>
            <a:r>
              <a:rPr lang="en-US" b="1" i="1" dirty="0" err="1"/>
              <a:t>máy</a:t>
            </a:r>
            <a:r>
              <a:rPr lang="en-US" b="1" i="1" dirty="0"/>
              <a:t> </a:t>
            </a:r>
            <a:r>
              <a:rPr lang="en-US" b="1" i="1" dirty="0" err="1"/>
              <a:t>Xp</a:t>
            </a:r>
            <a:r>
              <a:rPr lang="en-US" b="1" i="1" dirty="0"/>
              <a:t> </a:t>
            </a:r>
            <a:r>
              <a:rPr lang="en-US" b="1" i="1" dirty="0" err="1"/>
              <a:t>để</a:t>
            </a:r>
            <a:r>
              <a:rPr lang="en-US" b="1" i="1" dirty="0"/>
              <a:t> test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Xp</a:t>
            </a:r>
            <a:r>
              <a:rPr lang="en-US" dirty="0"/>
              <a:t> (Host only)</a:t>
            </a:r>
          </a:p>
          <a:p>
            <a:pPr marL="0" indent="0">
              <a:buNone/>
            </a:pPr>
            <a:r>
              <a:rPr lang="en-US" dirty="0"/>
              <a:t>      Start/Run / </a:t>
            </a:r>
            <a:r>
              <a:rPr lang="en-US" dirty="0" err="1"/>
              <a:t>cmd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ipconfig /release   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Xóa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địa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chỉ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cũ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      ipconfig /renew     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xin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cấp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địa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chỉ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mới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      ipconfig /all            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Hiện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các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thông</a:t>
            </a:r>
            <a:r>
              <a:rPr lang="en-US" dirty="0">
                <a:solidFill>
                  <a:srgbClr val="FF0000"/>
                </a:solidFill>
              </a:rPr>
              <a:t> tin </a:t>
            </a:r>
            <a:r>
              <a:rPr lang="en-US" dirty="0" err="1">
                <a:solidFill>
                  <a:srgbClr val="FF0000"/>
                </a:solidFill>
              </a:rPr>
              <a:t>của</a:t>
            </a:r>
            <a:r>
              <a:rPr lang="en-US" dirty="0">
                <a:solidFill>
                  <a:srgbClr val="FF0000"/>
                </a:solidFill>
              </a:rPr>
              <a:t> IP)</a:t>
            </a:r>
          </a:p>
          <a:p>
            <a:pPr marL="0" indent="0">
              <a:buNone/>
            </a:pPr>
            <a:r>
              <a:rPr lang="en-US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112251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5 </a:t>
            </a:r>
            <a:r>
              <a:rPr lang="en-US"/>
              <a:t/>
            </a:r>
            <a:br>
              <a:rPr lang="en-US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i="1" dirty="0" err="1"/>
              <a:t>Máy</a:t>
            </a:r>
            <a:r>
              <a:rPr lang="en-US" b="1" i="1" dirty="0"/>
              <a:t> server </a:t>
            </a:r>
            <a:r>
              <a:rPr lang="en-US" b="1" i="1" dirty="0" err="1"/>
              <a:t>sử</a:t>
            </a:r>
            <a:r>
              <a:rPr lang="en-US" b="1" i="1" dirty="0"/>
              <a:t> </a:t>
            </a:r>
            <a:r>
              <a:rPr lang="en-US" b="1" i="1" dirty="0" err="1"/>
              <a:t>dụng</a:t>
            </a:r>
            <a:r>
              <a:rPr lang="en-US" b="1" i="1" dirty="0"/>
              <a:t> </a:t>
            </a:r>
            <a:r>
              <a:rPr lang="en-US" b="1" i="1" dirty="0" err="1"/>
              <a:t>dải</a:t>
            </a:r>
            <a:r>
              <a:rPr lang="en-US" b="1" i="1" dirty="0"/>
              <a:t> IP: 192.168.2.x/24</a:t>
            </a:r>
          </a:p>
          <a:p>
            <a:pPr marL="0" indent="0" algn="just">
              <a:buNone/>
            </a:pPr>
            <a:r>
              <a:rPr lang="en-US" dirty="0"/>
              <a:t>1. Restore Server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ban </a:t>
            </a:r>
            <a:r>
              <a:rPr lang="en-US" dirty="0" err="1"/>
              <a:t>đầu</a:t>
            </a:r>
            <a:r>
              <a:rPr lang="en-US" dirty="0"/>
              <a:t> (Server New)</a:t>
            </a:r>
          </a:p>
          <a:p>
            <a:pPr marL="0" indent="0" algn="just">
              <a:buNone/>
            </a:pPr>
            <a:r>
              <a:rPr lang="en-US" dirty="0"/>
              <a:t>2.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IP </a:t>
            </a:r>
            <a:r>
              <a:rPr lang="en-US" dirty="0" err="1"/>
              <a:t>động</a:t>
            </a:r>
            <a:r>
              <a:rPr lang="en-US" dirty="0"/>
              <a:t> (100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,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thuê</a:t>
            </a:r>
            <a:r>
              <a:rPr lang="en-US" dirty="0"/>
              <a:t>: 180 </a:t>
            </a:r>
            <a:r>
              <a:rPr lang="en-US" dirty="0" err="1"/>
              <a:t>phút</a:t>
            </a:r>
            <a:r>
              <a:rPr lang="en-US" dirty="0"/>
              <a:t>,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dành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5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r>
              <a:rPr lang="en-US" dirty="0"/>
              <a:t>3. Sau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xong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Tiến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hành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sao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lưu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trạng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thái</a:t>
            </a:r>
            <a:r>
              <a:rPr lang="en-US" dirty="0">
                <a:sym typeface="Wingdings" panose="05000000000000000000" pitchFamily="2" charset="2"/>
              </a:rPr>
              <a:t> Server</a:t>
            </a:r>
          </a:p>
          <a:p>
            <a:pPr marL="0" indent="0" algn="just">
              <a:buNone/>
            </a:pPr>
            <a:r>
              <a:rPr lang="en-US" dirty="0">
                <a:sym typeface="Wingdings" panose="05000000000000000000" pitchFamily="2" charset="2"/>
              </a:rPr>
              <a:t>4. </a:t>
            </a:r>
            <a:r>
              <a:rPr lang="en-US" dirty="0" err="1">
                <a:sym typeface="Wingdings" panose="05000000000000000000" pitchFamily="2" charset="2"/>
              </a:rPr>
              <a:t>Thiết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lập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dùng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chung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thư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mục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với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máy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thật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083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BÀI </a:t>
            </a:r>
            <a:r>
              <a:rPr lang="en-US" dirty="0"/>
              <a:t>TẬP DOMAIN</a:t>
            </a:r>
            <a:r>
              <a:rPr lang="en-US"/>
              <a:t/>
            </a:r>
            <a:br>
              <a:rPr lang="en-US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5665"/>
            <a:ext cx="8229600" cy="452596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server: Restore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7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7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DHCP </a:t>
            </a:r>
            <a:r>
              <a:rPr lang="en-US" sz="7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7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Ser_New</a:t>
            </a:r>
            <a:endParaRPr lang="en-US" sz="7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DHCP      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b1.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tĩnh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7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195.10.STT.1/24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7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b2. </a:t>
            </a:r>
            <a:r>
              <a:rPr lang="en-US" sz="7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7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7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DHCP </a:t>
            </a:r>
            <a:r>
              <a:rPr lang="en-US" sz="7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7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7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20-100; </a:t>
            </a:r>
            <a:r>
              <a:rPr lang="en-US" sz="7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7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150 </a:t>
            </a:r>
            <a:r>
              <a:rPr lang="en-US" sz="7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phút</a:t>
            </a:r>
            <a:endParaRPr lang="en-US" sz="7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7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b3. Sao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luu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(snapshot)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sz="7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(DHCP2710)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Domain</a:t>
            </a:r>
            <a:r>
              <a:rPr lang="en-US" sz="7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Hoten.k71  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khi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máy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kđ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lại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cần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kiểm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dịch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vụ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DHCP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xem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có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bị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tắt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không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?,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địa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chỉ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DNS server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ko?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ten1: full quyền,ten2;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buổi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ten3: Cho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mk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Quay sang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XP, Win 7 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logon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lần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lượt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các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tài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khoản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7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7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sz="7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7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7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7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sz="7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7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7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7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Server: 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7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Domain2710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>
              <a:buNone/>
            </a:pP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Nộp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\\p607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STT_Hoten.docx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chèn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chụp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scope (Address pool)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chụp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Domain- tai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khoan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chụp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7200">
                <a:latin typeface="Times New Roman" panose="02020603050405020304" pitchFamily="18" charset="0"/>
                <a:cs typeface="Times New Roman" panose="02020603050405020304" pitchFamily="18" charset="0"/>
              </a:rPr>
              <a:t> ten1, ten2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chụp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mk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ten3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chụp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snapshot manager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899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491"/>
            <a:ext cx="8229600" cy="1143000"/>
          </a:xfrm>
        </p:spPr>
        <p:txBody>
          <a:bodyPr/>
          <a:lstStyle/>
          <a:p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4455"/>
            <a:ext cx="8229600" cy="566650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vi-VN" sz="2200" b="1" dirty="0">
                <a:latin typeface="+mj-lt"/>
              </a:rPr>
              <a:t>3. Nâng cấp Server --&gt; máy chủ Domain</a:t>
            </a:r>
            <a:endParaRPr lang="vi-VN" sz="2200" dirty="0">
              <a:latin typeface="+mj-lt"/>
            </a:endParaRPr>
          </a:p>
          <a:p>
            <a:pPr marL="0" indent="0" algn="just">
              <a:buNone/>
            </a:pPr>
            <a:r>
              <a:rPr lang="vi-VN" sz="2200" dirty="0">
                <a:latin typeface="+mj-lt"/>
              </a:rPr>
              <a:t>     + Mở máy ảo Server --&gt; W+R --&gt;</a:t>
            </a:r>
            <a:r>
              <a:rPr lang="en-US" sz="2200" dirty="0" err="1">
                <a:latin typeface="+mj-lt"/>
              </a:rPr>
              <a:t>trong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mục</a:t>
            </a:r>
            <a:r>
              <a:rPr lang="en-US" sz="2200" dirty="0">
                <a:latin typeface="+mj-lt"/>
              </a:rPr>
              <a:t> Run </a:t>
            </a:r>
            <a:r>
              <a:rPr lang="en-US" sz="2200" dirty="0" err="1">
                <a:latin typeface="+mj-lt"/>
              </a:rPr>
              <a:t>nhập</a:t>
            </a:r>
            <a:r>
              <a:rPr lang="en-US" sz="2200" dirty="0">
                <a:latin typeface="+mj-lt"/>
              </a:rPr>
              <a:t>:</a:t>
            </a:r>
            <a:r>
              <a:rPr lang="vi-VN" sz="2200" dirty="0">
                <a:latin typeface="+mj-lt"/>
              </a:rPr>
              <a:t> DCPROMO --&gt;</a:t>
            </a:r>
            <a:r>
              <a:rPr lang="en-US" sz="2200" dirty="0">
                <a:latin typeface="+mj-lt"/>
              </a:rPr>
              <a:t>Next …</a:t>
            </a:r>
            <a:r>
              <a:rPr lang="vi-VN" sz="220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create a new Domain…/next </a:t>
            </a:r>
            <a:r>
              <a:rPr lang="vi-VN" sz="2200" dirty="0">
                <a:latin typeface="+mj-lt"/>
              </a:rPr>
              <a:t>nhập tên domain (</a:t>
            </a:r>
            <a:r>
              <a:rPr lang="vi-VN" sz="2200" dirty="0">
                <a:solidFill>
                  <a:srgbClr val="FF0000"/>
                </a:solidFill>
                <a:latin typeface="+mj-lt"/>
              </a:rPr>
              <a:t>hoten</a:t>
            </a:r>
            <a:r>
              <a:rPr lang="en-US" sz="2200" dirty="0">
                <a:solidFill>
                  <a:srgbClr val="FF0000"/>
                </a:solidFill>
                <a:latin typeface="+mj-lt"/>
              </a:rPr>
              <a:t>.com.vn</a:t>
            </a:r>
            <a:r>
              <a:rPr lang="vi-VN" sz="2200" dirty="0">
                <a:latin typeface="+mj-lt"/>
              </a:rPr>
              <a:t>)       </a:t>
            </a:r>
            <a:r>
              <a:rPr lang="en-US" sz="2200" dirty="0">
                <a:latin typeface="+mj-lt"/>
              </a:rPr>
              <a:t>   </a:t>
            </a:r>
            <a:r>
              <a:rPr lang="en-US" sz="2200" dirty="0">
                <a:latin typeface="+mj-lt"/>
                <a:sym typeface="Wingdings" pitchFamily="2" charset="2"/>
              </a:rPr>
              <a:t>next … </a:t>
            </a:r>
            <a:r>
              <a:rPr lang="en-US" sz="2200" dirty="0" err="1">
                <a:latin typeface="+mj-lt"/>
                <a:sym typeface="Wingdings" pitchFamily="2" charset="2"/>
              </a:rPr>
              <a:t>khởi</a:t>
            </a:r>
            <a:r>
              <a:rPr lang="en-US" sz="2200" dirty="0">
                <a:latin typeface="+mj-lt"/>
                <a:sym typeface="Wingdings" pitchFamily="2" charset="2"/>
              </a:rPr>
              <a:t> </a:t>
            </a:r>
            <a:r>
              <a:rPr lang="en-US" sz="2200" dirty="0" err="1">
                <a:latin typeface="+mj-lt"/>
                <a:sym typeface="Wingdings" pitchFamily="2" charset="2"/>
              </a:rPr>
              <a:t>động</a:t>
            </a:r>
            <a:r>
              <a:rPr lang="en-US" sz="2200" dirty="0">
                <a:latin typeface="+mj-lt"/>
                <a:sym typeface="Wingdings" pitchFamily="2" charset="2"/>
              </a:rPr>
              <a:t> </a:t>
            </a:r>
            <a:r>
              <a:rPr lang="en-US" sz="2200" dirty="0" err="1">
                <a:latin typeface="+mj-lt"/>
                <a:sym typeface="Wingdings" pitchFamily="2" charset="2"/>
              </a:rPr>
              <a:t>lại</a:t>
            </a:r>
            <a:r>
              <a:rPr lang="en-US" sz="2200" dirty="0">
                <a:latin typeface="+mj-lt"/>
                <a:sym typeface="Wingdings" pitchFamily="2" charset="2"/>
              </a:rPr>
              <a:t> server</a:t>
            </a:r>
            <a:r>
              <a:rPr lang="vi-VN" sz="2200" dirty="0">
                <a:latin typeface="+mj-lt"/>
              </a:rPr>
              <a:t>                   </a:t>
            </a:r>
          </a:p>
          <a:p>
            <a:pPr marL="0" indent="0" algn="just">
              <a:buNone/>
            </a:pPr>
            <a:r>
              <a:rPr lang="vi-VN" sz="2200" b="1" dirty="0">
                <a:latin typeface="+mj-lt"/>
              </a:rPr>
              <a:t>4. Tạo tài khoản người dùng trên server</a:t>
            </a:r>
            <a:endParaRPr lang="vi-VN" sz="2200" dirty="0">
              <a:latin typeface="+mj-lt"/>
            </a:endParaRPr>
          </a:p>
          <a:p>
            <a:pPr marL="0" indent="0" algn="just">
              <a:buNone/>
            </a:pPr>
            <a:r>
              <a:rPr lang="vi-VN" sz="2200" dirty="0">
                <a:latin typeface="+mj-lt"/>
              </a:rPr>
              <a:t>     + Tạo 2 tài khoản người dùng (ten1, mk:123456a@ ; ten2, mk: 123456a@: hạn chế quyền đăng nhập theo thời gian)</a:t>
            </a:r>
            <a:endParaRPr lang="en-US" sz="2200" dirty="0">
              <a:latin typeface="+mj-lt"/>
            </a:endParaRPr>
          </a:p>
          <a:p>
            <a:pPr marL="0" indent="0" algn="just">
              <a:buNone/>
            </a:pPr>
            <a:r>
              <a:rPr lang="en-US" sz="2200" dirty="0">
                <a:latin typeface="+mj-lt"/>
              </a:rPr>
              <a:t>b1: </a:t>
            </a:r>
            <a:r>
              <a:rPr lang="en-US" sz="2200" dirty="0">
                <a:solidFill>
                  <a:srgbClr val="FF0000"/>
                </a:solidFill>
                <a:latin typeface="+mj-lt"/>
              </a:rPr>
              <a:t>Start / Amin Tools / Active Directory Users</a:t>
            </a:r>
            <a:r>
              <a:rPr lang="en-US" sz="2200" dirty="0">
                <a:latin typeface="+mj-lt"/>
              </a:rPr>
              <a:t>…</a:t>
            </a:r>
            <a:r>
              <a:rPr lang="en-US" sz="2200" dirty="0" err="1">
                <a:latin typeface="+mj-lt"/>
              </a:rPr>
              <a:t>Tìm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đến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mục</a:t>
            </a:r>
            <a:r>
              <a:rPr lang="en-US" sz="2200" dirty="0">
                <a:latin typeface="+mj-lt"/>
              </a:rPr>
              <a:t> Users </a:t>
            </a:r>
            <a:r>
              <a:rPr lang="en-US" sz="2200" dirty="0" err="1">
                <a:latin typeface="+mj-lt"/>
              </a:rPr>
              <a:t>của</a:t>
            </a:r>
            <a:r>
              <a:rPr lang="en-US" sz="2200" dirty="0">
                <a:latin typeface="+mj-lt"/>
              </a:rPr>
              <a:t> Domain</a:t>
            </a:r>
          </a:p>
          <a:p>
            <a:pPr marL="0" indent="0" algn="just">
              <a:buNone/>
            </a:pPr>
            <a:r>
              <a:rPr lang="en-US" sz="2200" dirty="0">
                <a:latin typeface="+mj-lt"/>
              </a:rPr>
              <a:t>b2: </a:t>
            </a:r>
            <a:r>
              <a:rPr lang="en-US" sz="2200" dirty="0" err="1">
                <a:latin typeface="+mj-lt"/>
              </a:rPr>
              <a:t>Nháy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chuột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phải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vào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mục</a:t>
            </a:r>
            <a:r>
              <a:rPr lang="en-US" sz="2200" dirty="0">
                <a:latin typeface="+mj-lt"/>
              </a:rPr>
              <a:t> Users/ New/Use 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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nhập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thông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tin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cần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thiết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: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tên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logon,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mật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khẩu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,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tùy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chọn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: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Bắt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buộc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đổi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mk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,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không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thay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đổi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mk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, …</a:t>
            </a:r>
          </a:p>
          <a:p>
            <a:pPr marL="0" indent="0" algn="just">
              <a:buNone/>
            </a:pPr>
            <a:r>
              <a:rPr lang="en-US" sz="2200" dirty="0" err="1">
                <a:latin typeface="+mj-lt"/>
                <a:sym typeface="Wingdings" panose="05000000000000000000" pitchFamily="2" charset="2"/>
              </a:rPr>
              <a:t>Chú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ý: Ten2: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Nháy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đúp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vào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tên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tài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khoản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/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Acount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/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Chọn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mục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Logon Hours/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Chọn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khoảng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thời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gian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cần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thiết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: </a:t>
            </a:r>
            <a:r>
              <a:rPr lang="en-US" sz="2200" dirty="0">
                <a:solidFill>
                  <a:srgbClr val="FF0000"/>
                </a:solidFill>
                <a:latin typeface="+mj-lt"/>
                <a:sym typeface="Wingdings" panose="05000000000000000000" pitchFamily="2" charset="2"/>
              </a:rPr>
              <a:t>Logon Permitted/Denied-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&gt; OK</a:t>
            </a:r>
          </a:p>
          <a:p>
            <a:pPr marL="0" indent="0" algn="just">
              <a:buNone/>
            </a:pPr>
            <a:endParaRPr lang="vi-VN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95697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707F48-DA3E-390F-09DE-D2860BBDD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1491"/>
            <a:ext cx="8229600" cy="452596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vi-VN" sz="3200" b="1" dirty="0">
                <a:latin typeface="+mj-lt"/>
              </a:rPr>
              <a:t>5. Gia nhập Domain</a:t>
            </a:r>
            <a:endParaRPr lang="vi-VN" sz="3200" dirty="0">
              <a:latin typeface="+mj-lt"/>
            </a:endParaRPr>
          </a:p>
          <a:p>
            <a:pPr marL="0" indent="0" algn="just">
              <a:buNone/>
            </a:pPr>
            <a:r>
              <a:rPr lang="vi-VN" sz="3200" dirty="0">
                <a:latin typeface="+mj-lt"/>
              </a:rPr>
              <a:t>      </a:t>
            </a:r>
            <a:r>
              <a:rPr lang="vi-VN" sz="3200" dirty="0">
                <a:solidFill>
                  <a:srgbClr val="FF0000"/>
                </a:solidFill>
                <a:latin typeface="+mj-lt"/>
              </a:rPr>
              <a:t>Quay trở lại máy trạm (Win 7 or XP) </a:t>
            </a:r>
            <a:r>
              <a:rPr lang="vi-VN" sz="3200" dirty="0">
                <a:latin typeface="+mj-lt"/>
              </a:rPr>
              <a:t>--&gt; Chọn </a:t>
            </a:r>
            <a:r>
              <a:rPr lang="vi-VN" sz="3200" dirty="0">
                <a:solidFill>
                  <a:srgbClr val="FF0000"/>
                </a:solidFill>
                <a:latin typeface="+mj-lt"/>
              </a:rPr>
              <a:t>Computer --&gt; Properties --&gt; chọn dòng Advanced System Settings --&gt; chọn tab Computer Name --&gt; Change --&gt; Chọn dòng Domain --&gt; nhập tên domain </a:t>
            </a:r>
            <a:r>
              <a:rPr lang="vi-VN" sz="3200" dirty="0">
                <a:latin typeface="+mj-lt"/>
              </a:rPr>
              <a:t>đã tạo ở phần 3 (hotensv không có phần mở rộng) --&gt;Ok --&gt; Xuất hiện yêu cầu nhập tên tài khoản và mk đã tạo ở phần 4 --&gt; khởi động lại và đăng nhập với tên tài khoản đã có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B5F7BFAA-900B-432D-31F0-712A8F4661CE}"/>
              </a:ext>
            </a:extLst>
          </p:cNvPr>
          <p:cNvSpPr txBox="1">
            <a:spLocks/>
          </p:cNvSpPr>
          <p:nvPr/>
        </p:nvSpPr>
        <p:spPr>
          <a:xfrm>
            <a:off x="457200" y="4849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Máy chủ Domain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081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08534"/>
          </a:xfrm>
        </p:spPr>
        <p:txBody>
          <a:bodyPr>
            <a:normAutofit fontScale="90000"/>
          </a:bodyPr>
          <a:lstStyle/>
          <a:p>
            <a:r>
              <a:rPr lang="en-US" smtClean="0"/>
              <a:t>Bài tập tuần 7(9,10/10)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752" y="811924"/>
            <a:ext cx="8487104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smtClean="0">
                <a:solidFill>
                  <a:srgbClr val="FF0000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  <a:t>Tình huống: </a:t>
            </a:r>
            <a:r>
              <a:rPr lang="en-US" sz="1800" smtClean="0">
                <a:latin typeface="Arial" pitchFamily="34" charset="0"/>
                <a:ea typeface="Tahoma" pitchFamily="34" charset="0"/>
                <a:cs typeface="Arial" pitchFamily="34" charset="0"/>
              </a:rPr>
              <a:t>Trên ổ D của server có các thư mục, file cần chia sẻ cho các nhóm tài khoản. </a:t>
            </a:r>
          </a:p>
          <a:p>
            <a:pPr marL="0" indent="0">
              <a:buNone/>
            </a:pPr>
            <a:r>
              <a:rPr lang="en-US" sz="1800" smtClean="0">
                <a:latin typeface="Arial" pitchFamily="34" charset="0"/>
                <a:ea typeface="Tahoma" pitchFamily="34" charset="0"/>
                <a:cs typeface="Arial" pitchFamily="34" charset="0"/>
              </a:rPr>
              <a:t>     các tài khoản trong Nhóm HOA: Có quyền xem, copy. </a:t>
            </a:r>
          </a:p>
          <a:p>
            <a:pPr marL="0" indent="0">
              <a:buNone/>
            </a:pPr>
            <a:r>
              <a:rPr lang="en-US" sz="1800" smtClean="0">
                <a:latin typeface="Arial" pitchFamily="34" charset="0"/>
                <a:ea typeface="Tahoma" pitchFamily="34" charset="0"/>
                <a:cs typeface="Arial" pitchFamily="34" charset="0"/>
              </a:rPr>
              <a:t>     </a:t>
            </a:r>
            <a:r>
              <a:rPr lang="en-US" sz="1800">
                <a:latin typeface="Arial" pitchFamily="34" charset="0"/>
                <a:ea typeface="Tahoma" pitchFamily="34" charset="0"/>
                <a:cs typeface="Arial" pitchFamily="34" charset="0"/>
              </a:rPr>
              <a:t>các tài khoản trong </a:t>
            </a:r>
            <a:r>
              <a:rPr lang="en-US" sz="1800" smtClean="0">
                <a:latin typeface="Arial" pitchFamily="34" charset="0"/>
                <a:ea typeface="Tahoma" pitchFamily="34" charset="0"/>
                <a:cs typeface="Arial" pitchFamily="34" charset="0"/>
              </a:rPr>
              <a:t>Nhóm CNTT: Có quyền xóa, sửa</a:t>
            </a:r>
          </a:p>
          <a:p>
            <a:pPr marL="0" indent="0">
              <a:buNone/>
            </a:pPr>
            <a:r>
              <a:rPr lang="en-US" sz="1800" b="1" smtClean="0">
                <a:solidFill>
                  <a:srgbClr val="FF0000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  <a:t>Trên server</a:t>
            </a:r>
          </a:p>
          <a:p>
            <a:pPr marL="0" indent="0">
              <a:buNone/>
            </a:pPr>
            <a:r>
              <a:rPr lang="en-US" sz="1800" smtClean="0">
                <a:latin typeface="Arial" pitchFamily="34" charset="0"/>
                <a:ea typeface="Tahoma" pitchFamily="34" charset="0"/>
                <a:cs typeface="Arial" pitchFamily="34" charset="0"/>
              </a:rPr>
              <a:t>B1: Tạo thêm 1 ổ D </a:t>
            </a:r>
            <a:r>
              <a:rPr lang="en-US" sz="1800" smtClean="0">
                <a:latin typeface="Arial" pitchFamily="34" charset="0"/>
                <a:ea typeface="Tahoma" pitchFamily="34" charset="0"/>
                <a:cs typeface="Arial" pitchFamily="34" charset="0"/>
                <a:sym typeface="Wingdings" pitchFamily="2" charset="2"/>
              </a:rPr>
              <a:t> tạo 2 thư mục DATA_hoa; DATA_cntt, trong đó tạo 1, 2 tệp *.txt</a:t>
            </a:r>
          </a:p>
          <a:p>
            <a:pPr marL="0" indent="0">
              <a:buNone/>
            </a:pPr>
            <a:r>
              <a:rPr lang="en-US" sz="1800" smtClean="0">
                <a:latin typeface="Arial" pitchFamily="34" charset="0"/>
                <a:ea typeface="Tahoma" pitchFamily="34" charset="0"/>
                <a:cs typeface="Arial" pitchFamily="34" charset="0"/>
                <a:sym typeface="Wingdings" pitchFamily="2" charset="2"/>
              </a:rPr>
              <a:t>B2: Trong Domain tạo 2 OU (HOA; TOAN); trong đó có các tk: hoa1, hoa2; toan1; toan2</a:t>
            </a:r>
          </a:p>
          <a:p>
            <a:pPr marL="0" indent="0">
              <a:buNone/>
            </a:pPr>
            <a:r>
              <a:rPr lang="en-US" sz="1800" smtClean="0">
                <a:latin typeface="Arial" pitchFamily="34" charset="0"/>
                <a:ea typeface="Tahoma" pitchFamily="34" charset="0"/>
                <a:cs typeface="Arial" pitchFamily="34" charset="0"/>
                <a:sym typeface="Wingdings" pitchFamily="2" charset="2"/>
              </a:rPr>
              <a:t>B3: Nháy chuột phải vào thư mục\ properties\ sharing\ Advanced sharing\chọn share \ chọn permissions\ remove tài khoản Everyone  add tài khoản cần thiết  chọn quyền tương ứng \apply\ok</a:t>
            </a:r>
          </a:p>
          <a:p>
            <a:pPr marL="0" indent="0">
              <a:buNone/>
            </a:pPr>
            <a:r>
              <a:rPr lang="en-US" sz="1800" b="1" smtClean="0">
                <a:solidFill>
                  <a:srgbClr val="FF0000"/>
                </a:solidFill>
                <a:latin typeface="Arial" pitchFamily="34" charset="0"/>
                <a:ea typeface="Tahoma" pitchFamily="34" charset="0"/>
                <a:cs typeface="Arial" pitchFamily="34" charset="0"/>
                <a:sym typeface="Wingdings" pitchFamily="2" charset="2"/>
              </a:rPr>
              <a:t>Trên máy trạm</a:t>
            </a:r>
          </a:p>
          <a:p>
            <a:pPr marL="0" indent="0">
              <a:buNone/>
            </a:pPr>
            <a:r>
              <a:rPr lang="en-US" sz="1800" smtClean="0">
                <a:latin typeface="Arial" pitchFamily="34" charset="0"/>
                <a:ea typeface="Tahoma" pitchFamily="34" charset="0"/>
                <a:cs typeface="Arial" pitchFamily="34" charset="0"/>
                <a:sym typeface="Wingdings" pitchFamily="2" charset="2"/>
              </a:rPr>
              <a:t>B4 Trên máy trạm có thể truy cập đến thư mục DATA_Hoa để xem, copy nhưng không có quyền xóa</a:t>
            </a:r>
          </a:p>
          <a:p>
            <a:pPr marL="0" indent="0">
              <a:buNone/>
            </a:pPr>
            <a:r>
              <a:rPr lang="en-US" sz="1800" smtClean="0">
                <a:latin typeface="Arial" pitchFamily="34" charset="0"/>
                <a:ea typeface="Tahoma" pitchFamily="34" charset="0"/>
                <a:cs typeface="Arial" pitchFamily="34" charset="0"/>
                <a:sym typeface="Wingdings" pitchFamily="2" charset="2"/>
              </a:rPr>
              <a:t>B5: Tạo ổ đĩa mạng (Map network drive): Nháy chuột phải vào My computer/ </a:t>
            </a:r>
            <a:r>
              <a:rPr lang="en-US" sz="1800">
                <a:latin typeface="Arial" pitchFamily="34" charset="0"/>
                <a:ea typeface="Tahoma" pitchFamily="34" charset="0"/>
                <a:cs typeface="Arial" pitchFamily="34" charset="0"/>
                <a:sym typeface="Wingdings" pitchFamily="2" charset="2"/>
              </a:rPr>
              <a:t>Map network </a:t>
            </a:r>
            <a:r>
              <a:rPr lang="en-US" sz="1800" smtClean="0">
                <a:latin typeface="Arial" pitchFamily="34" charset="0"/>
                <a:ea typeface="Tahoma" pitchFamily="34" charset="0"/>
                <a:cs typeface="Arial" pitchFamily="34" charset="0"/>
                <a:sym typeface="Wingdings" pitchFamily="2" charset="2"/>
              </a:rPr>
              <a:t>drive/ nhập đường dẫn hoặc chọn Browse/Finish</a:t>
            </a:r>
            <a:endParaRPr lang="en-US" sz="1800" smtClean="0">
              <a:latin typeface="Arial" pitchFamily="34" charset="0"/>
              <a:ea typeface="Tahoma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180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247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282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err="1"/>
              <a:t>hành</a:t>
            </a:r>
            <a:r>
              <a:rPr lang="en-US"/>
              <a:t> </a:t>
            </a:r>
            <a:r>
              <a:rPr lang="en-US" smtClean="0"/>
              <a:t>9,10/10/25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7463"/>
            <a:ext cx="8458200" cy="4906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Server: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b1.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IP </a:t>
            </a:r>
            <a:r>
              <a:rPr lang="en-US" sz="2400" smtClean="0">
                <a:latin typeface="Arial" panose="020B0604020202020204" pitchFamily="34" charset="0"/>
                <a:cs typeface="Arial" panose="020B0604020202020204" pitchFamily="34" charset="0"/>
              </a:rPr>
              <a:t>tĩnh: </a:t>
            </a:r>
            <a:r>
              <a:rPr lang="en-US" sz="24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192.168.2.1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smtClean="0">
                <a:latin typeface="Arial" panose="020B0604020202020204" pitchFamily="34" charset="0"/>
                <a:cs typeface="Arial" panose="020B0604020202020204" pitchFamily="34" charset="0"/>
              </a:rPr>
              <a:t>  b2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400" smtClean="0">
                <a:latin typeface="Arial" panose="020B0604020202020204" pitchFamily="34" charset="0"/>
                <a:cs typeface="Arial" panose="020B0604020202020204" pitchFamily="34" charset="0"/>
              </a:rPr>
              <a:t>Cấp Ip động từ: 192.168.2.20-100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b3.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mtClean="0">
                <a:latin typeface="Arial" panose="020B0604020202020204" pitchFamily="34" charset="0"/>
                <a:cs typeface="Arial" panose="020B0604020202020204" pitchFamily="34" charset="0"/>
              </a:rPr>
              <a:t>trạm để kiểm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b4.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IP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OK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tiến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mtClean="0">
                <a:latin typeface="Arial" panose="020B0604020202020204" pitchFamily="34" charset="0"/>
                <a:cs typeface="Arial" panose="020B0604020202020204" pitchFamily="34" charset="0"/>
              </a:rPr>
              <a:t>tạo snapshot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b5.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Nâng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mtClean="0">
                <a:latin typeface="Arial" panose="020B0604020202020204" pitchFamily="34" charset="0"/>
                <a:cs typeface="Arial" panose="020B0604020202020204" pitchFamily="34" charset="0"/>
              </a:rPr>
              <a:t>Domain: </a:t>
            </a:r>
            <a:r>
              <a:rPr lang="en-US" sz="24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hoten910.com.vn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b6.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khoản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ten1, ten2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ten2)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b7.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smtClean="0">
                <a:latin typeface="Arial" panose="020B0604020202020204" pitchFamily="34" charset="0"/>
                <a:cs typeface="Arial" panose="020B0604020202020204" pitchFamily="34" charset="0"/>
              </a:rPr>
              <a:t>XP để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Domain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ten1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kđ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lại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máy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b8.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Trên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máy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smtClean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Xp tiến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hành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logon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với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từng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smtClean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tên</a:t>
            </a:r>
          </a:p>
          <a:p>
            <a:pPr marL="0" indent="0"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smtClean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b9. Tạo thêm ổ D:NTFS;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</a:t>
            </a:r>
            <a:r>
              <a:rPr lang="en-US" sz="2400" smtClean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b10.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Trên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máy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Server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tạo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1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thư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mục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smtClean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K73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Trong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đó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tạo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2 file *.txt) 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tiến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hành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Share  Add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quyền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ten1: full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                                        ten2: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chỉ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xem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đọc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589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22642"/>
          </a:xfrm>
        </p:spPr>
        <p:txBody>
          <a:bodyPr>
            <a:normAutofit fontScale="90000"/>
          </a:bodyPr>
          <a:lstStyle/>
          <a:p>
            <a:r>
              <a:rPr lang="en-US" sz="3400" b="1" smtClean="0"/>
              <a:t>Tuần 8: Chính </a:t>
            </a:r>
            <a:r>
              <a:rPr lang="en-US" sz="3400" b="1"/>
              <a:t>sách tài khoản </a:t>
            </a:r>
            <a:br>
              <a:rPr lang="en-US" sz="3400" b="1"/>
            </a:br>
            <a:r>
              <a:rPr lang="en-US" sz="3400" b="1"/>
              <a:t>người </a:t>
            </a:r>
            <a:r>
              <a:rPr lang="en-US" sz="3400" b="1" smtClean="0"/>
              <a:t>dùng</a:t>
            </a:r>
            <a:endParaRPr lang="en-US" sz="3400" b="1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08314"/>
            <a:ext cx="8229600" cy="4525963"/>
          </a:xfrm>
        </p:spPr>
        <p:txBody>
          <a:bodyPr>
            <a:normAutofit/>
          </a:bodyPr>
          <a:lstStyle/>
          <a:p>
            <a:r>
              <a:rPr lang="en-US" sz="2600" dirty="0" err="1"/>
              <a:t>Chính</a:t>
            </a:r>
            <a:r>
              <a:rPr lang="en-US" sz="2600" dirty="0"/>
              <a:t> </a:t>
            </a:r>
            <a:r>
              <a:rPr lang="en-US" sz="2600" dirty="0" err="1"/>
              <a:t>sách</a:t>
            </a:r>
            <a:r>
              <a:rPr lang="en-US" sz="2600" dirty="0"/>
              <a:t> </a:t>
            </a:r>
            <a:r>
              <a:rPr lang="en-US" sz="2600" dirty="0" err="1"/>
              <a:t>mật</a:t>
            </a:r>
            <a:r>
              <a:rPr lang="en-US" sz="2600" dirty="0"/>
              <a:t> </a:t>
            </a:r>
            <a:r>
              <a:rPr lang="en-US" sz="2600" dirty="0" err="1"/>
              <a:t>khẩu</a:t>
            </a:r>
            <a:r>
              <a:rPr lang="en-US" sz="2600" dirty="0"/>
              <a:t> (Password Policies)</a:t>
            </a:r>
          </a:p>
          <a:p>
            <a:pPr lvl="1"/>
            <a:r>
              <a:rPr lang="en-US" sz="2600" dirty="0"/>
              <a:t>Password Policies </a:t>
            </a:r>
            <a:r>
              <a:rPr lang="en-US" sz="2600" dirty="0" err="1"/>
              <a:t>nhằm</a:t>
            </a:r>
            <a:r>
              <a:rPr lang="en-US" sz="2600" dirty="0"/>
              <a:t> </a:t>
            </a:r>
            <a:r>
              <a:rPr lang="en-US" sz="2600" dirty="0" err="1"/>
              <a:t>đảm</a:t>
            </a:r>
            <a:r>
              <a:rPr lang="en-US" sz="2600" dirty="0"/>
              <a:t> </a:t>
            </a:r>
            <a:r>
              <a:rPr lang="en-US" sz="2600" dirty="0" err="1"/>
              <a:t>bảo</a:t>
            </a:r>
            <a:r>
              <a:rPr lang="en-US" sz="2600" dirty="0"/>
              <a:t> an </a:t>
            </a:r>
            <a:r>
              <a:rPr lang="en-US" sz="2600" dirty="0" err="1"/>
              <a:t>toàn</a:t>
            </a:r>
            <a:r>
              <a:rPr lang="en-US" sz="2600" dirty="0"/>
              <a:t> </a:t>
            </a:r>
            <a:r>
              <a:rPr lang="en-US" sz="2600" dirty="0" err="1"/>
              <a:t>cho</a:t>
            </a:r>
            <a:r>
              <a:rPr lang="en-US" sz="2600" dirty="0"/>
              <a:t> </a:t>
            </a:r>
            <a:r>
              <a:rPr lang="en-US" sz="2600" dirty="0" err="1"/>
              <a:t>tài</a:t>
            </a:r>
            <a:r>
              <a:rPr lang="en-US" sz="2600" dirty="0"/>
              <a:t> </a:t>
            </a:r>
            <a:r>
              <a:rPr lang="en-US" sz="2600" dirty="0" err="1"/>
              <a:t>khoản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</a:t>
            </a:r>
            <a:r>
              <a:rPr lang="en-US" sz="2600" dirty="0" err="1"/>
              <a:t>người</a:t>
            </a:r>
            <a:r>
              <a:rPr lang="en-US" sz="2600" dirty="0"/>
              <a:t> </a:t>
            </a:r>
            <a:r>
              <a:rPr lang="en-US" sz="2600" dirty="0" err="1"/>
              <a:t>dùng</a:t>
            </a:r>
            <a:r>
              <a:rPr lang="en-US" sz="2600" dirty="0"/>
              <a:t>.</a:t>
            </a:r>
          </a:p>
          <a:p>
            <a:pPr lvl="1"/>
            <a:r>
              <a:rPr lang="en-US" sz="2600" dirty="0"/>
              <a:t>Password Policies </a:t>
            </a:r>
            <a:r>
              <a:rPr lang="en-US" sz="2600" dirty="0" err="1"/>
              <a:t>cho</a:t>
            </a:r>
            <a:r>
              <a:rPr lang="en-US" sz="2600" dirty="0"/>
              <a:t> </a:t>
            </a:r>
            <a:r>
              <a:rPr lang="en-US" sz="2600" dirty="0" err="1"/>
              <a:t>phép</a:t>
            </a:r>
            <a:r>
              <a:rPr lang="en-US" sz="2600" dirty="0"/>
              <a:t> qui </a:t>
            </a:r>
            <a:r>
              <a:rPr lang="en-US" sz="2600" dirty="0" err="1"/>
              <a:t>định</a:t>
            </a:r>
            <a:r>
              <a:rPr lang="en-US" sz="2600" dirty="0"/>
              <a:t> </a:t>
            </a:r>
            <a:r>
              <a:rPr lang="en-US" sz="2600" dirty="0" err="1"/>
              <a:t>độ</a:t>
            </a:r>
            <a:r>
              <a:rPr lang="en-US" sz="2600" dirty="0"/>
              <a:t> </a:t>
            </a:r>
            <a:r>
              <a:rPr lang="en-US" sz="2600" dirty="0" err="1"/>
              <a:t>dài</a:t>
            </a:r>
            <a:r>
              <a:rPr lang="en-US" sz="2600" dirty="0"/>
              <a:t>, </a:t>
            </a:r>
            <a:r>
              <a:rPr lang="en-US" sz="2600" dirty="0" err="1"/>
              <a:t>độ</a:t>
            </a:r>
            <a:r>
              <a:rPr lang="en-US" sz="2600" dirty="0"/>
              <a:t> </a:t>
            </a:r>
            <a:r>
              <a:rPr lang="en-US" sz="2600" dirty="0" err="1"/>
              <a:t>phức</a:t>
            </a:r>
            <a:r>
              <a:rPr lang="en-US" sz="2600" dirty="0"/>
              <a:t> </a:t>
            </a:r>
            <a:r>
              <a:rPr lang="en-US" sz="2600" dirty="0" err="1"/>
              <a:t>tạp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</a:t>
            </a:r>
            <a:r>
              <a:rPr lang="en-US" sz="2600" dirty="0" err="1"/>
              <a:t>mật</a:t>
            </a:r>
            <a:r>
              <a:rPr lang="en-US" sz="2600" dirty="0"/>
              <a:t> </a:t>
            </a:r>
            <a:r>
              <a:rPr lang="en-US" sz="2600" dirty="0" err="1" smtClean="0"/>
              <a:t>khẩu</a:t>
            </a:r>
            <a:endParaRPr lang="en-US" sz="2600" dirty="0" smtClean="0"/>
          </a:p>
          <a:p>
            <a:pPr marL="457200" lvl="1" indent="0">
              <a:buNone/>
            </a:pPr>
            <a:r>
              <a:rPr lang="en-US" sz="2600" smtClean="0"/>
              <a:t>Start/Admin/Group policy/ …</a:t>
            </a:r>
            <a:endParaRPr lang="en-US" sz="2600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55819" y="3878117"/>
            <a:ext cx="4171995" cy="2535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54793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1" smtClean="0"/>
              <a:t>Tuần 8: Chính </a:t>
            </a:r>
            <a:r>
              <a:rPr lang="en-US" sz="3400" b="1"/>
              <a:t>sách khoá tài khoản 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066800"/>
            <a:ext cx="8839200" cy="990600"/>
          </a:xfrm>
        </p:spPr>
        <p:txBody>
          <a:bodyPr/>
          <a:lstStyle/>
          <a:p>
            <a:r>
              <a:rPr lang="en-US" sz="2800"/>
              <a:t>Các chính sách khoá tài khoản mặc định</a:t>
            </a:r>
          </a:p>
        </p:txBody>
      </p:sp>
      <p:graphicFrame>
        <p:nvGraphicFramePr>
          <p:cNvPr id="13362" name="Group 50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50474989"/>
              </p:ext>
            </p:extLst>
          </p:nvPr>
        </p:nvGraphicFramePr>
        <p:xfrm>
          <a:off x="496389" y="1600200"/>
          <a:ext cx="8255726" cy="3886200"/>
        </p:xfrm>
        <a:graphic>
          <a:graphicData uri="http://schemas.openxmlformats.org/drawingml/2006/table">
            <a:tbl>
              <a:tblPr/>
              <a:tblGrid>
                <a:gridCol w="213510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468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27382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039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Chính sách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Mô tả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Giá trị mặc định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Account Lockout Threshold 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Quy định số lần cố gắng đăng nhập trước khi tài khoản bị khóa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0 (tài khoản sẽ không bị khóa)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Account Lockout Duration 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Quy định thời gian khóa tài khoản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Là 0, nhưng nếu Account Lockout Threshold được thiết lập thì giá trị này là 30 phút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217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Reset Account Lockout Counter After 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Quy định thời gian đếm lại số lần đăng nhập không thành công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Là 0, nhưng nếu Account Lockout Threshold được thiết lập thì giá trị này là 30 phút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301968"/>
      </p:ext>
    </p:extLst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5474" y="274638"/>
            <a:ext cx="6714309" cy="1143000"/>
          </a:xfrm>
        </p:spPr>
        <p:txBody>
          <a:bodyPr>
            <a:noAutofit/>
          </a:bodyPr>
          <a:lstStyle/>
          <a:p>
            <a:r>
              <a:rPr lang="en-US" sz="3200" b="1" smtClean="0">
                <a:cs typeface="Times New Roman" pitchFamily="18" charset="0"/>
              </a:rPr>
              <a:t>Tuần 8: Triển khai thay đổi giao diện Desktop xuống toàn miền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SERVER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B1.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thư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chứa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file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ảnh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nền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 chia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sẻ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thư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mục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 Start/Run :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  <a:hlinkClick r:id="rId2" action="ppaction://hlinkfile"/>
              </a:rPr>
              <a:t>\\IP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của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server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chỉ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đến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ảnh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và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copy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đường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dẫn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ảnh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B2.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Start/Run/ Group policy management /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Mở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Domain 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nháy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chuột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phải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OU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cần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thiết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 Properties Group policy  New –Edit  User configurations Administrative Templates  Desktop  Active Desktop 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desktop wallpaper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Enable  Copy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đường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dẫn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ảnh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 Apply-&gt;Ok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B3.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Áp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dụng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các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chính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sách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: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Start/Run/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gpupdate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force</a:t>
            </a:r>
          </a:p>
          <a:p>
            <a:pPr marL="0" indent="0" algn="just">
              <a:buNone/>
            </a:pP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Đặt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đ/c IP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của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server 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Cấu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hình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DHCP Sao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luuDomain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=&gt;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tạo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tài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khoản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(3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tk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)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gia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nhập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domain (Sao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luu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) 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Triển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khai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….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5688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22642"/>
          </a:xfrm>
        </p:spPr>
        <p:txBody>
          <a:bodyPr>
            <a:normAutofit/>
          </a:bodyPr>
          <a:lstStyle/>
          <a:p>
            <a:r>
              <a:rPr lang="en-US" sz="3400" b="1" smtClean="0"/>
              <a:t>BÀI TẬP TUẦN 8 (16,17/10/2025)</a:t>
            </a:r>
            <a:endParaRPr lang="en-US" sz="3400" b="1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08314"/>
            <a:ext cx="8229600" cy="4525963"/>
          </a:xfrm>
        </p:spPr>
        <p:txBody>
          <a:bodyPr>
            <a:normAutofit/>
          </a:bodyPr>
          <a:lstStyle/>
          <a:p>
            <a:pPr marL="971550" lvl="1" indent="-514350">
              <a:buAutoNum type="arabicPeriod"/>
            </a:pPr>
            <a:r>
              <a:rPr lang="en-US" sz="2600" b="1" smtClean="0"/>
              <a:t>Thiết lập chế độ đặt mật khẩu:</a:t>
            </a:r>
          </a:p>
          <a:p>
            <a:pPr marL="457200" lvl="1" indent="0">
              <a:buNone/>
            </a:pPr>
            <a:r>
              <a:rPr lang="en-US" sz="2600"/>
              <a:t> </a:t>
            </a:r>
            <a:r>
              <a:rPr lang="en-US" sz="2600" smtClean="0"/>
              <a:t>  - không yêu cầu độ phức tạp, </a:t>
            </a:r>
          </a:p>
          <a:p>
            <a:pPr marL="457200" lvl="1" indent="0">
              <a:buNone/>
            </a:pPr>
            <a:r>
              <a:rPr lang="en-US" sz="2600" smtClean="0"/>
              <a:t>   - thời hạn đổi mật khẩu là 5 ngày, </a:t>
            </a:r>
          </a:p>
          <a:p>
            <a:pPr marL="457200" lvl="1" indent="0">
              <a:buNone/>
            </a:pPr>
            <a:r>
              <a:rPr lang="en-US" sz="2600" smtClean="0"/>
              <a:t>   - chuỗi mật khẩu tối thiểu là 8 kí tự</a:t>
            </a:r>
          </a:p>
          <a:p>
            <a:pPr marL="457200" lvl="1" indent="0">
              <a:buNone/>
            </a:pPr>
            <a:r>
              <a:rPr lang="en-US" sz="2600" smtClean="0"/>
              <a:t>2</a:t>
            </a:r>
            <a:r>
              <a:rPr lang="en-US" sz="2600" b="1" smtClean="0"/>
              <a:t>. Qui định về đăng nhập:</a:t>
            </a:r>
          </a:p>
          <a:p>
            <a:pPr marL="457200" lvl="1" indent="0">
              <a:buNone/>
            </a:pPr>
            <a:r>
              <a:rPr lang="en-US" sz="2600"/>
              <a:t> </a:t>
            </a:r>
            <a:r>
              <a:rPr lang="en-US" sz="2600" smtClean="0"/>
              <a:t>  - Nếu đăng nhập sai 2 lần thì khóa 5 phút</a:t>
            </a:r>
          </a:p>
          <a:p>
            <a:pPr marL="457200" lvl="1" indent="0">
              <a:buNone/>
            </a:pPr>
            <a:r>
              <a:rPr lang="en-US" sz="2600" smtClean="0"/>
              <a:t>3. </a:t>
            </a:r>
            <a:r>
              <a:rPr lang="en-US" sz="2600" b="1" smtClean="0"/>
              <a:t>Thay đổi giao diện của tất cả máy trạm:</a:t>
            </a:r>
          </a:p>
          <a:p>
            <a:pPr marL="457200" lvl="1" indent="0">
              <a:buNone/>
            </a:pPr>
            <a:r>
              <a:rPr lang="en-US" sz="2600"/>
              <a:t> </a:t>
            </a:r>
            <a:r>
              <a:rPr lang="en-US" sz="2600" smtClean="0"/>
              <a:t>    Thay giao diện máy trạm bằng 1 ảnh trên server.</a:t>
            </a:r>
          </a:p>
          <a:p>
            <a:pPr marL="971550" lvl="1" indent="-514350">
              <a:buAutoNum type="arabicPeriod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2552513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Chú</a:t>
            </a:r>
            <a:r>
              <a:rPr lang="en-US" dirty="0"/>
              <a:t> 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Domain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khởi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động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lại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máy</a:t>
            </a:r>
            <a:r>
              <a:rPr lang="en-US" dirty="0">
                <a:sym typeface="Wingdings" pitchFamily="2" charset="2"/>
              </a:rPr>
              <a:t> server </a:t>
            </a:r>
            <a:r>
              <a:rPr lang="en-US" dirty="0" err="1">
                <a:sym typeface="Wingdings" pitchFamily="2" charset="2"/>
              </a:rPr>
              <a:t>vì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vậy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cần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phải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kiểm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tra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lại</a:t>
            </a:r>
            <a:r>
              <a:rPr lang="en-US" dirty="0">
                <a:sym typeface="Wingdings" pitchFamily="2" charset="2"/>
              </a:rPr>
              <a:t> IP </a:t>
            </a:r>
            <a:r>
              <a:rPr lang="en-US" dirty="0" err="1">
                <a:sym typeface="Wingdings" pitchFamily="2" charset="2"/>
              </a:rPr>
              <a:t>của</a:t>
            </a:r>
            <a:r>
              <a:rPr lang="en-US" dirty="0">
                <a:sym typeface="Wingdings" pitchFamily="2" charset="2"/>
              </a:rPr>
              <a:t> server, </a:t>
            </a:r>
            <a:r>
              <a:rPr lang="en-US" dirty="0" err="1">
                <a:sym typeface="Wingdings" pitchFamily="2" charset="2"/>
              </a:rPr>
              <a:t>kiểm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tra</a:t>
            </a:r>
            <a:r>
              <a:rPr lang="en-US" dirty="0">
                <a:sym typeface="Wingdings" pitchFamily="2" charset="2"/>
              </a:rPr>
              <a:t>  DHCP </a:t>
            </a:r>
            <a:r>
              <a:rPr lang="en-US" dirty="0" err="1">
                <a:sym typeface="Wingdings" pitchFamily="2" charset="2"/>
              </a:rPr>
              <a:t>có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bị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tắt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không</a:t>
            </a:r>
            <a:r>
              <a:rPr lang="en-US" dirty="0">
                <a:sym typeface="Wingdings" pitchFamily="2" charset="2"/>
              </a:rPr>
              <a:t>?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   </a:t>
            </a:r>
            <a:r>
              <a:rPr lang="en-US" dirty="0" err="1">
                <a:sym typeface="Wingdings" pitchFamily="2" charset="2"/>
              </a:rPr>
              <a:t>Mở</a:t>
            </a:r>
            <a:r>
              <a:rPr lang="en-US" dirty="0">
                <a:sym typeface="Wingdings" pitchFamily="2" charset="2"/>
              </a:rPr>
              <a:t> IP </a:t>
            </a:r>
            <a:r>
              <a:rPr lang="en-US" dirty="0" err="1">
                <a:sym typeface="Wingdings" pitchFamily="2" charset="2"/>
              </a:rPr>
              <a:t>của</a:t>
            </a:r>
            <a:r>
              <a:rPr lang="en-US" dirty="0">
                <a:sym typeface="Wingdings" pitchFamily="2" charset="2"/>
              </a:rPr>
              <a:t> server: </a:t>
            </a:r>
            <a:r>
              <a:rPr lang="en-US" dirty="0" err="1">
                <a:sym typeface="Wingdings" pitchFamily="2" charset="2"/>
              </a:rPr>
              <a:t>Kiểm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tra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lại</a:t>
            </a:r>
            <a:r>
              <a:rPr lang="en-US" dirty="0">
                <a:sym typeface="Wingdings" pitchFamily="2" charset="2"/>
              </a:rPr>
              <a:t> 4 </a:t>
            </a:r>
            <a:r>
              <a:rPr lang="en-US" dirty="0" err="1">
                <a:sym typeface="Wingdings" pitchFamily="2" charset="2"/>
              </a:rPr>
              <a:t>dòng</a:t>
            </a:r>
            <a:r>
              <a:rPr lang="en-US" dirty="0">
                <a:sym typeface="Wingdings" pitchFamily="2" charset="2"/>
              </a:rPr>
              <a:t> (</a:t>
            </a:r>
            <a:r>
              <a:rPr lang="en-US" dirty="0" err="1">
                <a:sym typeface="Wingdings" pitchFamily="2" charset="2"/>
              </a:rPr>
              <a:t>Có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thể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dòng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địa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chỉ</a:t>
            </a:r>
            <a:r>
              <a:rPr lang="en-US" dirty="0">
                <a:sym typeface="Wingdings" pitchFamily="2" charset="2"/>
              </a:rPr>
              <a:t> DNS </a:t>
            </a:r>
            <a:r>
              <a:rPr lang="en-US" dirty="0" err="1">
                <a:sym typeface="Wingdings" pitchFamily="2" charset="2"/>
              </a:rPr>
              <a:t>bị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thay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đổi</a:t>
            </a:r>
            <a:r>
              <a:rPr lang="en-US" dirty="0">
                <a:sym typeface="Wingdings" pitchFamily="2" charset="2"/>
              </a:rPr>
              <a:t>)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  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Mở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DHCP: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Nếu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có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mũi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tên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đỏ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(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Bị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tắt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)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thì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chọn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dòng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tên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máy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chủ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 Action 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Chọn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Authorise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-&gt; F5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=&gt;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Chuyển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sang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máy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trạm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để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kiểm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tra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lại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IP</a:t>
            </a:r>
          </a:p>
        </p:txBody>
      </p:sp>
    </p:spTree>
    <p:extLst>
      <p:ext uri="{BB962C8B-B14F-4D97-AF65-F5344CB8AC3E}">
        <p14:creationId xmlns:p14="http://schemas.microsoft.com/office/powerpoint/2010/main" val="1082932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vi-VN" b="1" dirty="0"/>
              <a:t>5. Gia nhập Domain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      Quay trở lại máy trạm (Win 7 or XP) --&gt; Chọn Computer --&gt; Properties --&gt; chọn dòng Advanced System Settings --&gt; chọn tab Computer Name --&gt; Change --&gt; Chọn dòng Domain --&gt; nhập tên domain đã tạo ở phần 3 (hotensv không có phần mở rộng) --&gt;Ok --&gt; Xuất hiện yêu cầu nhập tên tài khoản và mk đã tạo ở phần 4 --&gt; khởi động lại và đăng nhập với tên tài khoản đã có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56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Server, XP : Host only</a:t>
            </a:r>
          </a:p>
          <a:p>
            <a:pPr marL="0" indent="0">
              <a:buNone/>
            </a:pPr>
            <a:r>
              <a:rPr lang="en-US" sz="2800" dirty="0" err="1"/>
              <a:t>Địa</a:t>
            </a:r>
            <a:r>
              <a:rPr lang="en-US" sz="2800" dirty="0"/>
              <a:t> </a:t>
            </a:r>
            <a:r>
              <a:rPr lang="en-US" sz="2800" dirty="0" err="1"/>
              <a:t>chỉ</a:t>
            </a:r>
            <a:r>
              <a:rPr lang="en-US" sz="2800" dirty="0"/>
              <a:t> IP </a:t>
            </a:r>
            <a:r>
              <a:rPr lang="en-US" sz="2800" dirty="0" err="1"/>
              <a:t>của</a:t>
            </a:r>
            <a:r>
              <a:rPr lang="en-US" sz="2800" dirty="0"/>
              <a:t> Server:                IP: 192.</a:t>
            </a:r>
            <a:r>
              <a:rPr lang="en-US" sz="2800" dirty="0">
                <a:solidFill>
                  <a:srgbClr val="FF0000"/>
                </a:solidFill>
              </a:rPr>
              <a:t>stt.stt</a:t>
            </a:r>
            <a:r>
              <a:rPr lang="en-US" sz="2800" dirty="0"/>
              <a:t>.1</a:t>
            </a:r>
          </a:p>
          <a:p>
            <a:pPr marL="0" indent="0">
              <a:buNone/>
            </a:pPr>
            <a:r>
              <a:rPr lang="en-US" sz="2800" dirty="0"/>
              <a:t>                                                     </a:t>
            </a:r>
            <a:r>
              <a:rPr lang="en-US" sz="2800" dirty="0" err="1"/>
              <a:t>sm</a:t>
            </a:r>
            <a:r>
              <a:rPr lang="en-US" sz="2800" dirty="0"/>
              <a:t>: 255.255.255.0</a:t>
            </a:r>
          </a:p>
          <a:p>
            <a:pPr marL="0" indent="0">
              <a:buNone/>
            </a:pPr>
            <a:r>
              <a:rPr lang="en-US" sz="2800" dirty="0"/>
              <a:t>                                                     DF:  192.</a:t>
            </a:r>
            <a:r>
              <a:rPr lang="en-US" sz="2800" dirty="0">
                <a:solidFill>
                  <a:srgbClr val="FF0000"/>
                </a:solidFill>
              </a:rPr>
              <a:t>stt.stt</a:t>
            </a:r>
            <a:r>
              <a:rPr lang="en-US" sz="2800" dirty="0"/>
              <a:t>.254</a:t>
            </a:r>
          </a:p>
          <a:p>
            <a:pPr marL="0" indent="0">
              <a:buNone/>
            </a:pPr>
            <a:r>
              <a:rPr lang="en-US" sz="2800" dirty="0"/>
              <a:t>                                                     DNS: 192.</a:t>
            </a:r>
            <a:r>
              <a:rPr lang="en-US" sz="2800" dirty="0">
                <a:solidFill>
                  <a:srgbClr val="FF0000"/>
                </a:solidFill>
              </a:rPr>
              <a:t>stt.stt.</a:t>
            </a:r>
            <a:r>
              <a:rPr lang="en-US" sz="2800" dirty="0"/>
              <a:t>1</a:t>
            </a:r>
          </a:p>
          <a:p>
            <a:pPr marL="0" indent="0">
              <a:buNone/>
            </a:pPr>
            <a:r>
              <a:rPr lang="en-US" sz="2800" dirty="0" err="1"/>
              <a:t>Máy</a:t>
            </a:r>
            <a:r>
              <a:rPr lang="en-US" sz="2800" dirty="0"/>
              <a:t> XP                            IP:     </a:t>
            </a:r>
            <a:r>
              <a:rPr lang="en-US" sz="2800" dirty="0" err="1"/>
              <a:t>bỏ</a:t>
            </a:r>
            <a:r>
              <a:rPr lang="en-US" sz="2800" dirty="0"/>
              <a:t> </a:t>
            </a:r>
            <a:r>
              <a:rPr lang="en-US" sz="2800" dirty="0" err="1"/>
              <a:t>trống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                                      </a:t>
            </a:r>
            <a:r>
              <a:rPr lang="en-US" sz="2800" dirty="0" err="1"/>
              <a:t>sm</a:t>
            </a:r>
            <a:r>
              <a:rPr lang="en-US" sz="2800"/>
              <a:t>:   bỏ</a:t>
            </a:r>
            <a:r>
              <a:rPr lang="en-US" sz="2800" dirty="0"/>
              <a:t> </a:t>
            </a:r>
            <a:r>
              <a:rPr lang="en-US" sz="2800" dirty="0" err="1"/>
              <a:t>trống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                                      DF:   </a:t>
            </a:r>
            <a:r>
              <a:rPr lang="en-US" sz="2800" dirty="0" err="1"/>
              <a:t>bỏ</a:t>
            </a:r>
            <a:r>
              <a:rPr lang="en-US" sz="2800" dirty="0"/>
              <a:t> </a:t>
            </a:r>
            <a:r>
              <a:rPr lang="en-US" sz="2800" dirty="0" err="1"/>
              <a:t>trống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                                      DNS:  </a:t>
            </a:r>
            <a:r>
              <a:rPr lang="en-US" sz="2800" dirty="0">
                <a:solidFill>
                  <a:srgbClr val="FF0000"/>
                </a:solidFill>
              </a:rPr>
              <a:t>192.stt.stt</a:t>
            </a:r>
            <a:r>
              <a:rPr lang="en-US" sz="2800" dirty="0"/>
              <a:t>.1</a:t>
            </a:r>
          </a:p>
        </p:txBody>
      </p:sp>
    </p:spTree>
    <p:extLst>
      <p:ext uri="{BB962C8B-B14F-4D97-AF65-F5344CB8AC3E}">
        <p14:creationId xmlns:p14="http://schemas.microsoft.com/office/powerpoint/2010/main" val="222646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smtClean="0">
                <a:latin typeface="Times New Roman" pitchFamily="18" charset="0"/>
                <a:cs typeface="Times New Roman" pitchFamily="18" charset="0"/>
              </a:rPr>
              <a:t>Tuần 10: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Cài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đặt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mềm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Server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xuống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Client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mạng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LAN (Deploy Software)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Yêu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+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cài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đặt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mềm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(Firefox, Chrome, …)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ty (&gt;100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máy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+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cài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đặt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mềm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mới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phòng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ban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ty. =&gt;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khai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thủ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mất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nhiều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gian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=&gt;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Với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môi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trường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Domain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thì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việc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triển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khai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phần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mềm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khá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dễ</a:t>
            </a:r>
            <a:endParaRPr lang="en-US" sz="24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Chúng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ta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sẽ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sử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dụng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Group Policy 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nhóm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khai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gói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mềm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yêu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mạng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LAN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giảm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tải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Server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 algn="just">
              <a:buNone/>
            </a:pPr>
            <a:r>
              <a:rPr lang="en-US" sz="240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Chú ý: Áp dụng cho file cài đặt *.msi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997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err="1"/>
              <a:t>Chuẩn</a:t>
            </a:r>
            <a:r>
              <a:rPr lang="en-US"/>
              <a:t> </a:t>
            </a:r>
            <a:r>
              <a:rPr lang="en-US" smtClean="0"/>
              <a:t>bị (15 PHÚT)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752" y="896007"/>
            <a:ext cx="8229600" cy="452596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2008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đổi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Ser_Hoten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514350" indent="-514350">
              <a:buAutoNum type="arabicPeriod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Kiểm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dịch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vụ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cấp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DHCP</a:t>
            </a:r>
          </a:p>
          <a:p>
            <a:pPr marL="514350" indent="-514350">
              <a:buAutoNum type="arabicPeriod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Tạo snapshot</a:t>
            </a:r>
          </a:p>
          <a:p>
            <a:pPr marL="514350" indent="-514350">
              <a:buAutoNum type="arabicPeriod"/>
            </a:pP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Nâng cấp thành Domain  tạo tài khoản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514350" indent="-514350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Log on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máy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trạm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1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tài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khoản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ten1</a:t>
            </a:r>
          </a:p>
          <a:p>
            <a:pPr marL="514350" indent="-514350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Copy file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Camtasia.msi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máy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Server</a:t>
            </a:r>
          </a:p>
        </p:txBody>
      </p:sp>
    </p:spTree>
    <p:extLst>
      <p:ext uri="{BB962C8B-B14F-4D97-AF65-F5344CB8AC3E}">
        <p14:creationId xmlns:p14="http://schemas.microsoft.com/office/powerpoint/2010/main" val="409868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7417"/>
            <a:ext cx="8229600" cy="973183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TUẦN 10: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Cài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đặt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mềm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Server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xuống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Client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mạng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LAN (Deploy Software)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763000" cy="5562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Yêu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máy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phòng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máy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cài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mềm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Movie Maker 2.6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Camtasia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Server: 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b1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1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thư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PM </a:t>
            </a:r>
            <a:r>
              <a:rPr lang="en-US" sz="1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ổ C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b2. 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Copy Camtasia.msi </a:t>
            </a:r>
            <a:r>
              <a:rPr lang="en-US" sz="1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thư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chia </a:t>
            </a:r>
            <a:r>
              <a:rPr lang="en-US" sz="18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sẻ</a:t>
            </a: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thư</a:t>
            </a: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Chuột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/Sharing…)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b3. </a:t>
            </a:r>
            <a:r>
              <a:rPr lang="en-US" sz="18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nhóm</a:t>
            </a: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OU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(VD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800" smtClean="0">
                <a:latin typeface="Times New Roman" pitchFamily="18" charset="0"/>
                <a:cs typeface="Times New Roman" pitchFamily="18" charset="0"/>
              </a:rPr>
              <a:t>P607</a:t>
            </a:r>
            <a:r>
              <a:rPr lang="en-US" sz="180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sz="1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tạo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các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tài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khoản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sv1,sv2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, …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   Start/ Admin Tools / Active Directory/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Chuột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phải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vào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tên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Domain / New/ Organizational Unit/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Nhập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tên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P1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  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Tạo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các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tài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khoản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trong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OU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trên</a:t>
            </a:r>
            <a:endParaRPr lang="en-US" sz="18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b4. </a:t>
            </a:r>
            <a:r>
              <a:rPr lang="en-US" sz="1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Tạo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chính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sách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(GPO) </a:t>
            </a:r>
            <a:r>
              <a:rPr lang="en-US" sz="1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cho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nhóm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   Start/ Admin/ 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Group Policy Management 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/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Nháy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chuột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phải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vào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OU -&gt; Create a GPO/ New /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nhập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tên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 OK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   -&gt; </a:t>
            </a:r>
            <a:r>
              <a:rPr lang="en-US" sz="180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nháy</a:t>
            </a:r>
            <a:r>
              <a:rPr lang="en-US" sz="180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phải vào tên/Edit  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Trong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mục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User …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nhấn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dấu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+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dòng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Software Settings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   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Nháy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chuột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phải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vào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dòng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Software Installation / New /Package 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   -&gt;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Chọn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My network places / Entire network / Microsoft Windows  Network  /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Tìm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đến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file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đã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được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chia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sẻ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/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Chọn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Assigned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   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Nháy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chuột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phải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vào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đường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dẫn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file / Properties /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Chọn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Deployment /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chọn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Assigned / Install  </a:t>
            </a:r>
            <a:r>
              <a:rPr lang="en-US" sz="180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this </a:t>
            </a:r>
            <a:r>
              <a:rPr lang="en-US" sz="180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applycation 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at logon   /Apply  / OK</a:t>
            </a:r>
            <a:r>
              <a:rPr lang="en-US" sz="800" dirty="0">
                <a:sym typeface="Wingdings" pitchFamily="2" charset="2"/>
              </a:rPr>
              <a:t>             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Áp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dụng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các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chính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sách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: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Start/Run/ </a:t>
            </a:r>
            <a:r>
              <a:rPr lang="en-US" sz="200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gpupdate</a:t>
            </a:r>
            <a:r>
              <a:rPr lang="en-US" sz="2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/force</a:t>
            </a:r>
            <a:endParaRPr lang="en-US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800" dirty="0">
                <a:sym typeface="Wingdings" pitchFamily="2" charset="2"/>
              </a:rPr>
              <a:t>       					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612065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smtClean="0">
                <a:latin typeface="Times New Roman" pitchFamily="18" charset="0"/>
                <a:cs typeface="Times New Roman" pitchFamily="18" charset="0"/>
              </a:rPr>
              <a:t>Tuần 10: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Cài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đặt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mềm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Server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xuống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Client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mạng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LAN (Deploy Software)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446" y="1600200"/>
            <a:ext cx="8569234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P1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Camtasia.msi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Server: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PM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ổ C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2. Copy Camtasia.msi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sẻ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PM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3.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Domain -&gt;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(VD: P1)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tạo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tài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khoản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sv1,sv2, …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nhóm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P1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 4.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Trên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P1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tạo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chính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sách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nhóm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(GPO)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   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Chuột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phải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vào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P1/ Properties / Group Policy/ New</a:t>
            </a:r>
          </a:p>
          <a:p>
            <a:pPr marL="0" indent="0">
              <a:buNone/>
            </a:pP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Áp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dụng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các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chính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sách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: Start/Run/ </a:t>
            </a: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gpupdate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/force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Client: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Chỉ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đăng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nhập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tài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khoảngiang1-&gt;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ko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có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                   			          sv1         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</a:p>
        </p:txBody>
      </p:sp>
    </p:spTree>
    <p:extLst>
      <p:ext uri="{BB962C8B-B14F-4D97-AF65-F5344CB8AC3E}">
        <p14:creationId xmlns:p14="http://schemas.microsoft.com/office/powerpoint/2010/main" val="3148519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2578</TotalTime>
  <Words>2503</Words>
  <Application>Microsoft Office PowerPoint</Application>
  <PresentationFormat>On-screen Show (4:3)</PresentationFormat>
  <Paragraphs>258</Paragraphs>
  <Slides>30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QUẢN TRỊ MẠNG</vt:lpstr>
      <vt:lpstr>Tuần 1-3</vt:lpstr>
      <vt:lpstr>Máy ảo Vmware </vt:lpstr>
      <vt:lpstr>Máy ảo Vmware</vt:lpstr>
      <vt:lpstr>PowerPoint Presentation</vt:lpstr>
      <vt:lpstr>PowerPoint Presentation</vt:lpstr>
      <vt:lpstr>QUẢN TRỊ MẠNG</vt:lpstr>
      <vt:lpstr>Chuẩn bị tại nhà</vt:lpstr>
      <vt:lpstr>Tuần 5</vt:lpstr>
      <vt:lpstr>PowerPoint Presentation</vt:lpstr>
      <vt:lpstr>Bài tập DHCP</vt:lpstr>
      <vt:lpstr>Sửa lỗi cấp IP động</vt:lpstr>
      <vt:lpstr>TEST</vt:lpstr>
      <vt:lpstr>Bài tập tuần 5  </vt:lpstr>
      <vt:lpstr>BÀI TẬP DOMAIN </vt:lpstr>
      <vt:lpstr>Máy chủ Domain</vt:lpstr>
      <vt:lpstr>PowerPoint Presentation</vt:lpstr>
      <vt:lpstr>Bài tập tuần 7(9,10/10)</vt:lpstr>
      <vt:lpstr>Bài thực hành 9,10/10/25</vt:lpstr>
      <vt:lpstr>Tuần 8: Chính sách tài khoản  người dùng</vt:lpstr>
      <vt:lpstr>Tuần 8: Chính sách khoá tài khoản </vt:lpstr>
      <vt:lpstr>Tuần 8: Triển khai thay đổi giao diện Desktop xuống toàn miền</vt:lpstr>
      <vt:lpstr>BÀI TẬP TUẦN 8 (16,17/10/2025)</vt:lpstr>
      <vt:lpstr>Chú ý</vt:lpstr>
      <vt:lpstr>PowerPoint Presentation</vt:lpstr>
      <vt:lpstr>Thực hành</vt:lpstr>
      <vt:lpstr>Tuần 10: Cài đặt phần mềm tự động từ Server xuống Client trong mạng LAN (Deploy Software)</vt:lpstr>
      <vt:lpstr>Chuẩn bị (15 PHÚT)</vt:lpstr>
      <vt:lpstr>TUẦN 10: Cài đặt phần mềm tự động từ Server xuống Client trong mạng LAN (Deploy Software)</vt:lpstr>
      <vt:lpstr>Tuần 10: Cài đặt phần mềm tự động từ Server xuống Client trong mạng LAN (Deploy Software)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THỰC HÀNH MẠNG</dc:title>
  <dc:creator>VU GIANG</dc:creator>
  <cp:lastModifiedBy>Admin</cp:lastModifiedBy>
  <cp:revision>133</cp:revision>
  <dcterms:modified xsi:type="dcterms:W3CDTF">2025-10-31T07:17:31Z</dcterms:modified>
</cp:coreProperties>
</file>